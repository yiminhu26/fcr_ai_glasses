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3" r:id="rId2"/>
    <p:sldId id="258" r:id="rId3"/>
    <p:sldId id="264" r:id="rId4"/>
    <p:sldId id="261" r:id="rId5"/>
    <p:sldId id="262" r:id="rId6"/>
    <p:sldId id="270" r:id="rId7"/>
    <p:sldId id="271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26" autoAdjust="0"/>
    <p:restoredTop sz="94660"/>
  </p:normalViewPr>
  <p:slideViewPr>
    <p:cSldViewPr snapToGrid="0">
      <p:cViewPr varScale="1">
        <p:scale>
          <a:sx n="81" d="100"/>
          <a:sy n="81" d="100"/>
        </p:scale>
        <p:origin x="1698" y="9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ECAD6B-9D7E-4B5F-8A89-C33F7FE10085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25E716-BF5E-422C-88F6-1CAA417BD0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068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25E716-BF5E-422C-88F6-1CAA417BD0C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2996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25E716-BF5E-422C-88F6-1CAA417BD0C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298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DE84B-5FD9-C1B4-DE9E-7F07891DDA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608EE0-C621-EB9E-AA28-F994449694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45B14-037B-3D73-701B-E94F52AE5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21E4A-86EB-4697-84E3-1D91AAAE05D0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BDB18-6EF9-D1E8-0348-18A39F764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5FF01-9459-020B-E2F3-BE5CEAF8C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ADA5A-990A-4180-8E3C-C8179AEE6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586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39872-E081-6D9B-3DCE-6DEB6DC94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BB69C-92B0-14A1-0581-FDD2665EA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047E2-2EE5-09E3-E75C-CAEF1296D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409CE-B151-489A-BF93-642A9DC7121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C6D3A-6C48-4DD2-3C27-81BBA83AD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BEF0F-23C4-76DC-387E-FFAC89239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ADA5A-990A-4180-8E3C-C8179AEE6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340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45E28-F4E3-D6A5-86BA-E20264A14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CFAFFA-6F2E-5AF7-F948-88E149CA8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7C4B9-27C5-EAF5-30B2-B25F7A31C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408EA-5D68-448A-A56F-64EE2C6CAE41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96583-F90E-F1B9-0158-BD96AF7EA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E5F50-B346-0BE9-B33C-0677775A8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ADA5A-990A-4180-8E3C-C8179AEE6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919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45ACF-E3D0-CF05-B6B0-29E26A54A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AD169-3557-186D-B3C9-41BC9864D4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AC111D-F03B-31D3-436E-161217F65A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5FE491-D080-1370-DE48-5D4A59389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89EA2-B218-4032-B972-73CE5AE2A2FB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F19413-466E-1961-0ACD-EE479EE47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CC4E34-E0C9-4A1D-E0DE-F3FDF8641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ADA5A-990A-4180-8E3C-C8179AEE6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220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795E9-C42C-0D4E-CBE4-1E0DC5B11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F1FA4E-555A-565E-EF16-305FF40ED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47522C-F67F-A7A8-4038-842F879C32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3F65D8-DD8F-D883-1F9F-3AFB243B02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43DFB9-5192-E47C-5429-4120B2603E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AD24F9-B269-E30C-85BE-98B51088D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61383-564F-4399-A5FD-FE1234B36B61}" type="datetime1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D378A1-95A3-ECD3-1850-5451FDBC3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1FBB05-4702-C17E-1C1F-DB5A3C8F9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ADA5A-990A-4180-8E3C-C8179AEE6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594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615FA-D0E3-6EE5-57AB-DCEB47682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EB3494-A8CB-3117-8EE0-9444F692E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3EEC1-ECDD-42A1-8B3B-051387C96417}" type="datetime1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5CF20F-5DE5-6307-F642-CE9AC3738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09AF1F-D294-92D7-0AD4-16525759F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ADA5A-990A-4180-8E3C-C8179AEE6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204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DC68D2-8064-5941-2852-918543845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DEBBF-5889-48E4-8524-EE9CD24CF20E}" type="datetime1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D81608-774E-3BE5-3079-AF84EE83A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1DF5D-AC87-3A75-1892-92712D3AB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ADA5A-990A-4180-8E3C-C8179AEE6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406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CF618-FAD9-9697-04CD-60B32BA6C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DA5EC-DBF1-97B4-A0B7-E04138527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E07FA0-6628-D952-A7D3-6CA86B1C1F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E5B4C9-5E63-1142-C953-E98E89CC4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69E1A-1627-4051-967C-A2901F8A5BBD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93A1F-56AE-BB2C-38EE-9A5676A61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822AB-ED70-9F28-457C-D7687E3DD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ADA5A-990A-4180-8E3C-C8179AEE6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895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A5AC0-EB53-8D48-CDF9-58FB7B778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1C1D4E-BD94-876D-912C-630369A25F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53647-BFA5-881D-E7BB-FDBCE47BF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2CF7D-4847-8BB0-83DC-390292A2D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C29A-C852-4E24-AA11-C44E7FB0A4DE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6F3D39-D87C-6A33-345C-008CE3CAC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C2A30-F296-ECFB-A95F-6BB410C64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ADA5A-990A-4180-8E3C-C8179AEE6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185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EF5E7-367F-954C-E623-BC5BABEB6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C0E761-4A46-666F-00AA-E929019192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80C9C-5987-D1EF-FA63-FE9286ED9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030E9-FD90-4349-B9CC-CAC12D2A684F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7E6868-9F4E-2384-2BBE-7C728722E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C9499-D54B-A61A-B40B-8FA9F63E1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ADA5A-990A-4180-8E3C-C8179AEE6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15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1C34A0-88BF-83CC-DBCE-8AC30BFA78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F7A8D3-AD8B-92D5-92F8-F7BEF6AF69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E0113-5156-7FE6-EB90-B5240C5CF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8ED8C-AE26-4F38-AE49-45794670237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3875B-246B-DC28-D246-1B6F058FC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09F89-28B7-BA75-7F7E-861BE7FE1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ADA5A-990A-4180-8E3C-C8179AEE6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376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79BCF7-4023-97CE-DB9E-6435DC54E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4482F3-77AC-E884-7EC7-51CDD0D2E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839BD-072B-1507-0ABD-56D6F71FDB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9CCE68-C4AA-47AD-A9F0-5B3374D79A7B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4E990-9384-A051-CED7-635D827DBA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4AD4B-32D2-2D2D-5B27-71296B4FB1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6ADA5A-990A-4180-8E3C-C8179AEE6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542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5.png"/><Relationship Id="rId7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6.sv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rizon.rokid.com/space/home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coze.cn/hom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hyperlink" Target="https://dev.to/jajera/install-python-on-windows-via-cli-winget-3lnm" TargetMode="External"/><Relationship Id="rId7" Type="http://schemas.openxmlformats.org/officeDocument/2006/relationships/image" Target="../media/image19.png"/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hyperlink" Target="https://code.visualstudio.com/docs/setup/windows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s://x-docs.rokid.com/docs/terminal-sdk/resources/%E6%9C%89%E7%BA%BF%E6%8A%95%E5%B1%8F.html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FC38A-E684-171F-7243-E7AC21D274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</a:t>
            </a:r>
            <a:r>
              <a:rPr lang="zh-CN" altLang="en-US" dirty="0"/>
              <a:t>眼镜开发汇报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83CACD-753E-C1B4-52BE-BFF96D2865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2026.09.11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553DE8-C385-789A-AA43-956A7EE7D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ADA5A-990A-4180-8E3C-C8179AEE668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701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D210D953-5531-C600-299F-D1563FC4EFD5}"/>
              </a:ext>
            </a:extLst>
          </p:cNvPr>
          <p:cNvGrpSpPr/>
          <p:nvPr/>
        </p:nvGrpSpPr>
        <p:grpSpPr>
          <a:xfrm>
            <a:off x="1875901" y="5125046"/>
            <a:ext cx="2250218" cy="1431236"/>
            <a:chOff x="1073427" y="2394668"/>
            <a:chExt cx="2250218" cy="14312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276B7E6-5471-8A2A-C509-E852C362F2C1}"/>
                </a:ext>
              </a:extLst>
            </p:cNvPr>
            <p:cNvSpPr/>
            <p:nvPr/>
          </p:nvSpPr>
          <p:spPr>
            <a:xfrm>
              <a:off x="1073427" y="2394668"/>
              <a:ext cx="2250218" cy="71561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dirty="0">
                  <a:solidFill>
                    <a:sysClr val="windowText" lastClr="000000"/>
                  </a:solidFill>
                </a:rPr>
                <a:t>2 </a:t>
              </a:r>
              <a:r>
                <a:rPr lang="zh-CN" altLang="en-US" dirty="0">
                  <a:solidFill>
                    <a:sysClr val="windowText" lastClr="000000"/>
                  </a:solidFill>
                </a:rPr>
                <a:t>读取项目信息</a:t>
              </a:r>
              <a:endParaRPr 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BEBFC42-E2F7-3086-3AD8-F602C88D685A}"/>
                </a:ext>
              </a:extLst>
            </p:cNvPr>
            <p:cNvSpPr/>
            <p:nvPr/>
          </p:nvSpPr>
          <p:spPr>
            <a:xfrm>
              <a:off x="1073427" y="3110286"/>
              <a:ext cx="2250218" cy="71561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dirty="0">
                  <a:solidFill>
                    <a:sysClr val="windowText" lastClr="000000"/>
                  </a:solidFill>
                </a:rPr>
                <a:t>设备型号</a:t>
              </a:r>
              <a:r>
                <a:rPr lang="en-US" altLang="zh-CN" sz="1200" dirty="0">
                  <a:solidFill>
                    <a:sysClr val="windowText" lastClr="000000"/>
                  </a:solidFill>
                </a:rPr>
                <a:t>	</a:t>
              </a:r>
              <a:r>
                <a:rPr lang="zh-CN" altLang="en-US" sz="1200" dirty="0">
                  <a:solidFill>
                    <a:sysClr val="windowText" lastClr="000000"/>
                  </a:solidFill>
                </a:rPr>
                <a:t>项目号</a:t>
              </a:r>
              <a:endParaRPr lang="en-US" altLang="zh-CN" sz="1200" dirty="0">
                <a:solidFill>
                  <a:sysClr val="windowText" lastClr="000000"/>
                </a:solidFill>
              </a:endParaRPr>
            </a:p>
            <a:p>
              <a:r>
                <a:rPr lang="zh-CN" altLang="en-US" sz="1200" dirty="0">
                  <a:solidFill>
                    <a:sysClr val="windowText" lastClr="000000"/>
                  </a:solidFill>
                </a:rPr>
                <a:t>间隔号</a:t>
              </a:r>
              <a:r>
                <a:rPr lang="en-US" altLang="zh-CN" sz="1200" dirty="0">
                  <a:solidFill>
                    <a:sysClr val="windowText" lastClr="000000"/>
                  </a:solidFill>
                </a:rPr>
                <a:t>	</a:t>
              </a:r>
              <a:r>
                <a:rPr lang="zh-CN" altLang="en-US" sz="1200" dirty="0">
                  <a:solidFill>
                    <a:sysClr val="windowText" lastClr="000000"/>
                  </a:solidFill>
                </a:rPr>
                <a:t>批号</a:t>
              </a:r>
              <a:endParaRPr lang="en-US" altLang="zh-CN" sz="1200" dirty="0">
                <a:solidFill>
                  <a:sysClr val="windowText" lastClr="000000"/>
                </a:solidFill>
              </a:endParaRPr>
            </a:p>
            <a:p>
              <a:r>
                <a:rPr lang="zh-CN" altLang="en-US" sz="1200" dirty="0">
                  <a:solidFill>
                    <a:sysClr val="windowText" lastClr="000000"/>
                  </a:solidFill>
                </a:rPr>
                <a:t>图纸页码</a:t>
              </a:r>
              <a:r>
                <a:rPr lang="en-US" altLang="zh-CN" sz="1200" dirty="0">
                  <a:solidFill>
                    <a:sysClr val="windowText" lastClr="000000"/>
                  </a:solidFill>
                </a:rPr>
                <a:t>	</a:t>
              </a:r>
              <a:r>
                <a:rPr lang="zh-CN" altLang="en-US" sz="1200" dirty="0">
                  <a:solidFill>
                    <a:sysClr val="windowText" lastClr="000000"/>
                  </a:solidFill>
                </a:rPr>
                <a:t>运输模块代码</a:t>
              </a:r>
              <a:endParaRPr lang="en-US" sz="1200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F3870788-E439-60F9-6CB4-26A772433098}"/>
              </a:ext>
            </a:extLst>
          </p:cNvPr>
          <p:cNvSpPr/>
          <p:nvPr/>
        </p:nvSpPr>
        <p:spPr>
          <a:xfrm>
            <a:off x="5154654" y="452714"/>
            <a:ext cx="2250218" cy="71561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ysClr val="windowText" lastClr="000000"/>
                </a:solidFill>
              </a:rPr>
              <a:t>3 </a:t>
            </a:r>
            <a:r>
              <a:rPr lang="zh-CN" altLang="en-US" dirty="0">
                <a:solidFill>
                  <a:sysClr val="windowText" lastClr="000000"/>
                </a:solidFill>
              </a:rPr>
              <a:t>读取检测项目清单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C75E2CE-9951-411D-20F1-7582EFCE6001}"/>
              </a:ext>
            </a:extLst>
          </p:cNvPr>
          <p:cNvGrpSpPr/>
          <p:nvPr/>
        </p:nvGrpSpPr>
        <p:grpSpPr>
          <a:xfrm>
            <a:off x="208132" y="813092"/>
            <a:ext cx="2067340" cy="922351"/>
            <a:chOff x="1160890" y="230587"/>
            <a:chExt cx="2067340" cy="922351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C95F64D-912B-E1A3-C6B5-A24BB5A3903E}"/>
                </a:ext>
              </a:extLst>
            </p:cNvPr>
            <p:cNvGrpSpPr/>
            <p:nvPr/>
          </p:nvGrpSpPr>
          <p:grpSpPr>
            <a:xfrm>
              <a:off x="1160890" y="230587"/>
              <a:ext cx="2067340" cy="922351"/>
              <a:chOff x="1160890" y="230587"/>
              <a:chExt cx="2067340" cy="922351"/>
            </a:xfrm>
          </p:grpSpPr>
          <p:pic>
            <p:nvPicPr>
              <p:cNvPr id="11" name="Graphic 10" descr="Qr Code with solid fill">
                <a:extLst>
                  <a:ext uri="{FF2B5EF4-FFF2-40B4-BE49-F238E27FC236}">
                    <a16:creationId xmlns:a16="http://schemas.microsoft.com/office/drawing/2014/main" id="{16661757-4E23-BA60-A679-DAAD4C7040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791573" y="749080"/>
                <a:ext cx="380999" cy="380999"/>
              </a:xfrm>
              <a:prstGeom prst="rect">
                <a:avLst/>
              </a:prstGeom>
            </p:spPr>
          </p:pic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15BF18F-0EBF-9AB6-D1C9-1596D947AD78}"/>
                  </a:ext>
                </a:extLst>
              </p:cNvPr>
              <p:cNvSpPr/>
              <p:nvPr/>
            </p:nvSpPr>
            <p:spPr>
              <a:xfrm>
                <a:off x="1160890" y="230587"/>
                <a:ext cx="2067340" cy="92235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B333775-7786-FD44-F998-C2A3BB0866DB}"/>
                  </a:ext>
                </a:extLst>
              </p:cNvPr>
              <p:cNvSpPr txBox="1"/>
              <p:nvPr/>
            </p:nvSpPr>
            <p:spPr>
              <a:xfrm>
                <a:off x="1475134" y="361763"/>
                <a:ext cx="1697438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/>
                  <a:t>7</a:t>
                </a:r>
                <a:r>
                  <a:rPr lang="en-US" altLang="zh-CN" sz="1050" dirty="0"/>
                  <a:t>06271    </a:t>
                </a:r>
                <a:r>
                  <a:rPr lang="en-US" sz="1050" dirty="0"/>
                  <a:t>D01    I</a:t>
                </a:r>
                <a:r>
                  <a:rPr lang="en-US" altLang="zh-CN" sz="1050" dirty="0"/>
                  <a:t>ndoor</a:t>
                </a:r>
              </a:p>
              <a:p>
                <a:r>
                  <a:rPr lang="en-US" sz="1050" dirty="0"/>
                  <a:t>Q53+Q91+W4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70221F35-3E61-4B28-96D7-8B026EA4E637}"/>
                  </a:ext>
                </a:extLst>
              </p:cNvPr>
              <p:cNvSpPr/>
              <p:nvPr/>
            </p:nvSpPr>
            <p:spPr>
              <a:xfrm>
                <a:off x="1335818" y="931959"/>
                <a:ext cx="198782" cy="190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F9D93123-CCA9-7A7C-6003-E143134C369A}"/>
                  </a:ext>
                </a:extLst>
              </p:cNvPr>
              <p:cNvSpPr/>
              <p:nvPr/>
            </p:nvSpPr>
            <p:spPr>
              <a:xfrm>
                <a:off x="1455088" y="931959"/>
                <a:ext cx="198782" cy="19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98E77D7-693C-DEFF-DA7B-0E03D7C842C2}"/>
                  </a:ext>
                </a:extLst>
              </p:cNvPr>
              <p:cNvSpPr/>
              <p:nvPr/>
            </p:nvSpPr>
            <p:spPr>
              <a:xfrm>
                <a:off x="1582308" y="931959"/>
                <a:ext cx="198782" cy="1905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3" name="Graphic 2" descr="Qr Code with solid fill">
              <a:extLst>
                <a:ext uri="{FF2B5EF4-FFF2-40B4-BE49-F238E27FC236}">
                  <a16:creationId xmlns:a16="http://schemas.microsoft.com/office/drawing/2014/main" id="{9FEED043-BBD0-345C-9421-497D7D4D53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95334" y="749080"/>
              <a:ext cx="380999" cy="380999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B7D390A9-78F0-E6B2-EBAF-2FACB1937B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9953"/>
          <a:stretch>
            <a:fillRect/>
          </a:stretch>
        </p:blipFill>
        <p:spPr>
          <a:xfrm>
            <a:off x="4734391" y="1309455"/>
            <a:ext cx="3090743" cy="1067309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30280AE1-9D6C-8E88-ED54-BA2D14C67A6B}"/>
              </a:ext>
            </a:extLst>
          </p:cNvPr>
          <p:cNvGrpSpPr/>
          <p:nvPr/>
        </p:nvGrpSpPr>
        <p:grpSpPr>
          <a:xfrm>
            <a:off x="5172877" y="4603200"/>
            <a:ext cx="2250218" cy="1953082"/>
            <a:chOff x="5046429" y="4368204"/>
            <a:chExt cx="2250218" cy="1953082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FD0BB96-948F-1988-50F9-1DBA63356880}"/>
                </a:ext>
              </a:extLst>
            </p:cNvPr>
            <p:cNvSpPr/>
            <p:nvPr/>
          </p:nvSpPr>
          <p:spPr>
            <a:xfrm>
              <a:off x="5046429" y="4368204"/>
              <a:ext cx="2250218" cy="71561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dirty="0">
                  <a:solidFill>
                    <a:sysClr val="windowText" lastClr="000000"/>
                  </a:solidFill>
                </a:rPr>
                <a:t>5 </a:t>
              </a:r>
              <a:r>
                <a:rPr lang="zh-CN" altLang="en-US" dirty="0">
                  <a:solidFill>
                    <a:sysClr val="windowText" lastClr="000000"/>
                  </a:solidFill>
                </a:rPr>
                <a:t>用户输入检测结果</a:t>
              </a:r>
              <a:endParaRPr 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AD0AC5A-2BD6-489A-6DAE-C09FB18D9318}"/>
                </a:ext>
              </a:extLst>
            </p:cNvPr>
            <p:cNvSpPr/>
            <p:nvPr/>
          </p:nvSpPr>
          <p:spPr>
            <a:xfrm>
              <a:off x="5046429" y="5083821"/>
              <a:ext cx="2250218" cy="123746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7632142-87B7-81CA-B59A-0F1F8AAD1FC2}"/>
                </a:ext>
              </a:extLst>
            </p:cNvPr>
            <p:cNvSpPr/>
            <p:nvPr/>
          </p:nvSpPr>
          <p:spPr>
            <a:xfrm>
              <a:off x="5548022" y="5206634"/>
              <a:ext cx="1210586" cy="29218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ysClr val="windowText" lastClr="000000"/>
                  </a:solidFill>
                </a:rPr>
                <a:t>合格</a:t>
              </a:r>
              <a:endParaRPr lang="en-US" sz="12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2E49C16-E640-F414-7B1A-D315F786B91A}"/>
                </a:ext>
              </a:extLst>
            </p:cNvPr>
            <p:cNvSpPr/>
            <p:nvPr/>
          </p:nvSpPr>
          <p:spPr>
            <a:xfrm>
              <a:off x="5548022" y="5556463"/>
              <a:ext cx="1210586" cy="29218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ysClr val="windowText" lastClr="000000"/>
                  </a:solidFill>
                </a:rPr>
                <a:t>不合格</a:t>
              </a:r>
              <a:r>
                <a:rPr lang="en-US" altLang="zh-CN" sz="1200" dirty="0">
                  <a:solidFill>
                    <a:sysClr val="windowText" lastClr="000000"/>
                  </a:solidFill>
                </a:rPr>
                <a:t>+</a:t>
              </a:r>
              <a:r>
                <a:rPr lang="zh-CN" altLang="en-US" sz="1200" dirty="0">
                  <a:solidFill>
                    <a:sysClr val="windowText" lastClr="000000"/>
                  </a:solidFill>
                </a:rPr>
                <a:t>原因</a:t>
              </a:r>
              <a:endParaRPr lang="en-US" sz="12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9605E4E-9216-1713-F4F8-9CCA084C1ACB}"/>
                </a:ext>
              </a:extLst>
            </p:cNvPr>
            <p:cNvSpPr/>
            <p:nvPr/>
          </p:nvSpPr>
          <p:spPr>
            <a:xfrm>
              <a:off x="5548022" y="5906292"/>
              <a:ext cx="1210586" cy="29218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ysClr val="windowText" lastClr="000000"/>
                  </a:solidFill>
                </a:rPr>
                <a:t>不需要检测</a:t>
              </a:r>
              <a:endParaRPr lang="en-US" sz="1200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7356107-CA3B-55D2-9417-67A66C9B8EB5}"/>
              </a:ext>
            </a:extLst>
          </p:cNvPr>
          <p:cNvGrpSpPr/>
          <p:nvPr/>
        </p:nvGrpSpPr>
        <p:grpSpPr>
          <a:xfrm>
            <a:off x="5172877" y="2835779"/>
            <a:ext cx="2250219" cy="1431567"/>
            <a:chOff x="5046428" y="2550004"/>
            <a:chExt cx="2250219" cy="1431567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F6F6061-037E-351B-ABCA-615DAB29D5B6}"/>
                </a:ext>
              </a:extLst>
            </p:cNvPr>
            <p:cNvSpPr/>
            <p:nvPr/>
          </p:nvSpPr>
          <p:spPr>
            <a:xfrm>
              <a:off x="5046429" y="2550004"/>
              <a:ext cx="2250218" cy="71561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dirty="0">
                  <a:solidFill>
                    <a:sysClr val="windowText" lastClr="000000"/>
                  </a:solidFill>
                </a:rPr>
                <a:t>4 </a:t>
              </a:r>
              <a:r>
                <a:rPr lang="zh-CN" altLang="en-US" dirty="0">
                  <a:solidFill>
                    <a:sysClr val="windowText" lastClr="000000"/>
                  </a:solidFill>
                </a:rPr>
                <a:t>逐条输出检测项目</a:t>
              </a:r>
              <a:endParaRPr 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64B30BFF-675F-9024-EF7F-AF00CB67A718}"/>
                </a:ext>
              </a:extLst>
            </p:cNvPr>
            <p:cNvSpPr/>
            <p:nvPr/>
          </p:nvSpPr>
          <p:spPr>
            <a:xfrm>
              <a:off x="5046428" y="3265953"/>
              <a:ext cx="2250218" cy="71561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 err="1">
                  <a:solidFill>
                    <a:sysClr val="windowText" lastClr="000000"/>
                  </a:solidFill>
                </a:rPr>
                <a:t>检测项目a，测试和安装单据需要填写的信息的完整性和正确性</a:t>
              </a:r>
              <a:r>
                <a:rPr lang="zh-CN" altLang="en-US" sz="1100" dirty="0">
                  <a:solidFill>
                    <a:sysClr val="windowText" lastClr="000000"/>
                  </a:solidFill>
                </a:rPr>
                <a:t>。</a:t>
              </a:r>
              <a:endParaRPr lang="en-US" altLang="zh-CN" sz="1100" dirty="0">
                <a:solidFill>
                  <a:sysClr val="windowText" lastClr="000000"/>
                </a:solidFill>
              </a:endParaRPr>
            </a:p>
            <a:p>
              <a:endParaRPr lang="en-US" sz="1100" dirty="0">
                <a:solidFill>
                  <a:sysClr val="windowText" lastClr="000000"/>
                </a:solidFill>
              </a:endParaRPr>
            </a:p>
            <a:p>
              <a:r>
                <a:rPr lang="en-US" sz="1100" dirty="0" err="1">
                  <a:solidFill>
                    <a:sysClr val="windowText" lastClr="000000"/>
                  </a:solidFill>
                </a:rPr>
                <a:t>请确认该检测项是否合格</a:t>
              </a:r>
              <a:r>
                <a:rPr lang="en-US" sz="1100" dirty="0">
                  <a:solidFill>
                    <a:sysClr val="windowText" lastClr="000000"/>
                  </a:solidFill>
                </a:rPr>
                <a:t>？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DC4A5F7-3637-8C37-464D-5E203DB211AB}"/>
              </a:ext>
            </a:extLst>
          </p:cNvPr>
          <p:cNvGrpSpPr/>
          <p:nvPr/>
        </p:nvGrpSpPr>
        <p:grpSpPr>
          <a:xfrm>
            <a:off x="1875901" y="2478300"/>
            <a:ext cx="2250218" cy="1953083"/>
            <a:chOff x="1069451" y="1877832"/>
            <a:chExt cx="2250218" cy="195308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2B3A05E-C67C-408A-5626-7E3A70B6C706}"/>
                </a:ext>
              </a:extLst>
            </p:cNvPr>
            <p:cNvSpPr/>
            <p:nvPr/>
          </p:nvSpPr>
          <p:spPr>
            <a:xfrm>
              <a:off x="1069451" y="1877832"/>
              <a:ext cx="2250218" cy="71561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dirty="0">
                  <a:solidFill>
                    <a:sysClr val="windowText" lastClr="000000"/>
                  </a:solidFill>
                </a:rPr>
                <a:t>1 </a:t>
              </a:r>
              <a:r>
                <a:rPr lang="zh-CN" altLang="en-US" dirty="0">
                  <a:solidFill>
                    <a:sysClr val="windowText" lastClr="000000"/>
                  </a:solidFill>
                </a:rPr>
                <a:t>扫描唛头二维码</a:t>
              </a:r>
              <a:endParaRPr 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8DADAA5-EBF2-86F3-ADAC-9629D877502D}"/>
                </a:ext>
              </a:extLst>
            </p:cNvPr>
            <p:cNvSpPr/>
            <p:nvPr/>
          </p:nvSpPr>
          <p:spPr>
            <a:xfrm>
              <a:off x="1069451" y="2593450"/>
              <a:ext cx="2250218" cy="123746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dirty="0">
                  <a:solidFill>
                    <a:schemeClr val="tx1"/>
                  </a:solidFill>
                </a:rPr>
                <a:t>{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  "</a:t>
              </a:r>
              <a:r>
                <a:rPr lang="en-US" sz="800" dirty="0" err="1">
                  <a:solidFill>
                    <a:schemeClr val="tx1"/>
                  </a:solidFill>
                </a:rPr>
                <a:t>device_id</a:t>
              </a:r>
              <a:r>
                <a:rPr lang="en-US" sz="800" dirty="0">
                  <a:solidFill>
                    <a:schemeClr val="tx1"/>
                  </a:solidFill>
                </a:rPr>
                <a:t>": "8DN9-2", 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  "</a:t>
              </a:r>
              <a:r>
                <a:rPr lang="en-US" sz="800" dirty="0" err="1">
                  <a:solidFill>
                    <a:schemeClr val="tx1"/>
                  </a:solidFill>
                </a:rPr>
                <a:t>proj_id</a:t>
              </a:r>
              <a:r>
                <a:rPr lang="en-US" sz="800" dirty="0">
                  <a:solidFill>
                    <a:schemeClr val="tx1"/>
                  </a:solidFill>
                </a:rPr>
                <a:t>": 706271, 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  "</a:t>
              </a:r>
              <a:r>
                <a:rPr lang="en-US" sz="800" dirty="0" err="1">
                  <a:solidFill>
                    <a:schemeClr val="tx1"/>
                  </a:solidFill>
                </a:rPr>
                <a:t>bay_id</a:t>
              </a:r>
              <a:r>
                <a:rPr lang="en-US" sz="800" dirty="0">
                  <a:solidFill>
                    <a:schemeClr val="tx1"/>
                  </a:solidFill>
                </a:rPr>
                <a:t>": "D01", 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  "</a:t>
              </a:r>
              <a:r>
                <a:rPr lang="en-US" sz="800" dirty="0" err="1">
                  <a:solidFill>
                    <a:schemeClr val="tx1"/>
                  </a:solidFill>
                </a:rPr>
                <a:t>batch_id</a:t>
              </a:r>
              <a:r>
                <a:rPr lang="en-US" sz="800" dirty="0">
                  <a:solidFill>
                    <a:schemeClr val="tx1"/>
                  </a:solidFill>
                </a:rPr>
                <a:t>": 31302675, 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  "</a:t>
              </a:r>
              <a:r>
                <a:rPr lang="en-US" sz="800" dirty="0" err="1">
                  <a:solidFill>
                    <a:schemeClr val="tx1"/>
                  </a:solidFill>
                </a:rPr>
                <a:t>hzdrawing_page</a:t>
              </a:r>
              <a:r>
                <a:rPr lang="en-US" sz="800" dirty="0">
                  <a:solidFill>
                    <a:schemeClr val="tx1"/>
                  </a:solidFill>
                </a:rPr>
                <a:t>": "HZ-478-M706271-B07",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  "</a:t>
              </a:r>
              <a:r>
                <a:rPr lang="en-US" sz="800" dirty="0" err="1">
                  <a:solidFill>
                    <a:schemeClr val="tx1"/>
                  </a:solidFill>
                </a:rPr>
                <a:t>transportation_cell_symbol</a:t>
              </a:r>
              <a:r>
                <a:rPr lang="en-US" sz="800" dirty="0">
                  <a:solidFill>
                    <a:schemeClr val="tx1"/>
                  </a:solidFill>
                </a:rPr>
                <a:t>": "Q53+Q91+W4“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}</a:t>
              </a:r>
              <a:endParaRPr lang="en-US" sz="800" dirty="0"/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1481300A-5758-11FE-A59E-9D2B5515C4CB}"/>
              </a:ext>
            </a:extLst>
          </p:cNvPr>
          <p:cNvSpPr/>
          <p:nvPr/>
        </p:nvSpPr>
        <p:spPr>
          <a:xfrm>
            <a:off x="8469853" y="452714"/>
            <a:ext cx="2250218" cy="71561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ysClr val="windowText" lastClr="000000"/>
                </a:solidFill>
              </a:rPr>
              <a:t>6 </a:t>
            </a:r>
            <a:r>
              <a:rPr lang="zh-CN" altLang="en-US" dirty="0">
                <a:solidFill>
                  <a:sysClr val="windowText" lastClr="000000"/>
                </a:solidFill>
              </a:rPr>
              <a:t>记录检测结果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1E38D4D-5E6B-A54B-7E76-E68EC16E9C8B}"/>
              </a:ext>
            </a:extLst>
          </p:cNvPr>
          <p:cNvSpPr/>
          <p:nvPr/>
        </p:nvSpPr>
        <p:spPr>
          <a:xfrm>
            <a:off x="8469853" y="2004135"/>
            <a:ext cx="2250218" cy="71561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ysClr val="windowText" lastClr="000000"/>
                </a:solidFill>
              </a:rPr>
              <a:t>7 </a:t>
            </a:r>
            <a:r>
              <a:rPr lang="zh-CN" altLang="en-US" dirty="0">
                <a:solidFill>
                  <a:sysClr val="windowText" lastClr="000000"/>
                </a:solidFill>
              </a:rPr>
              <a:t>导出该间隔数据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0D368A5-72B9-6636-6604-A4DDD9A5F3D9}"/>
              </a:ext>
            </a:extLst>
          </p:cNvPr>
          <p:cNvSpPr/>
          <p:nvPr/>
        </p:nvSpPr>
        <p:spPr>
          <a:xfrm>
            <a:off x="8469853" y="3551728"/>
            <a:ext cx="2250218" cy="71561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ysClr val="windowText" lastClr="000000"/>
                </a:solidFill>
              </a:rPr>
              <a:t>8 </a:t>
            </a:r>
            <a:r>
              <a:rPr lang="zh-CN" altLang="en-US" dirty="0">
                <a:solidFill>
                  <a:sysClr val="windowText" lastClr="000000"/>
                </a:solidFill>
              </a:rPr>
              <a:t>填入终检报告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0FDF122-77B2-E751-B5C4-EC668537B81F}"/>
              </a:ext>
            </a:extLst>
          </p:cNvPr>
          <p:cNvSpPr/>
          <p:nvPr/>
        </p:nvSpPr>
        <p:spPr>
          <a:xfrm>
            <a:off x="8469853" y="4696196"/>
            <a:ext cx="2250218" cy="71561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ysClr val="windowText" lastClr="000000"/>
                </a:solidFill>
              </a:rPr>
              <a:t>9 </a:t>
            </a:r>
            <a:r>
              <a:rPr lang="zh-CN" altLang="en-US" dirty="0">
                <a:solidFill>
                  <a:sysClr val="windowText" lastClr="000000"/>
                </a:solidFill>
              </a:rPr>
              <a:t>调整终检报告格式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D8E4BF8-A900-D028-F195-21C73C36E36C}"/>
              </a:ext>
            </a:extLst>
          </p:cNvPr>
          <p:cNvSpPr/>
          <p:nvPr/>
        </p:nvSpPr>
        <p:spPr>
          <a:xfrm>
            <a:off x="8469853" y="5840664"/>
            <a:ext cx="2250218" cy="71561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ysClr val="windowText" lastClr="000000"/>
                </a:solidFill>
              </a:rPr>
              <a:t>10 </a:t>
            </a:r>
            <a:r>
              <a:rPr lang="zh-CN" altLang="en-US" dirty="0">
                <a:solidFill>
                  <a:sysClr val="windowText" lastClr="000000"/>
                </a:solidFill>
              </a:rPr>
              <a:t>完成终检报告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62" name="Arrow: Bent 61">
            <a:extLst>
              <a:ext uri="{FF2B5EF4-FFF2-40B4-BE49-F238E27FC236}">
                <a16:creationId xmlns:a16="http://schemas.microsoft.com/office/drawing/2014/main" id="{494A583F-BC84-A58E-7D4B-EBD10F91484B}"/>
              </a:ext>
            </a:extLst>
          </p:cNvPr>
          <p:cNvSpPr/>
          <p:nvPr/>
        </p:nvSpPr>
        <p:spPr>
          <a:xfrm rot="10800000" flipH="1">
            <a:off x="1264626" y="1866619"/>
            <a:ext cx="499794" cy="969160"/>
          </a:xfrm>
          <a:prstGeom prst="bentArrow">
            <a:avLst>
              <a:gd name="adj1" fmla="val 18711"/>
              <a:gd name="adj2" fmla="val 20914"/>
              <a:gd name="adj3" fmla="val 50000"/>
              <a:gd name="adj4" fmla="val 43750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BC4790F-CF42-700C-5597-73E1E2DA77D7}"/>
              </a:ext>
            </a:extLst>
          </p:cNvPr>
          <p:cNvSpPr txBox="1"/>
          <p:nvPr/>
        </p:nvSpPr>
        <p:spPr>
          <a:xfrm>
            <a:off x="857162" y="1799563"/>
            <a:ext cx="38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</a:rPr>
              <a:t>新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64" name="Picture 63" descr="扣子PPT - AI工具箱网">
            <a:extLst>
              <a:ext uri="{FF2B5EF4-FFF2-40B4-BE49-F238E27FC236}">
                <a16:creationId xmlns:a16="http://schemas.microsoft.com/office/drawing/2014/main" id="{D99684A0-C3FA-72D3-2CB2-E5FC0E76ED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2584" y="4502424"/>
            <a:ext cx="490057" cy="490057"/>
          </a:xfrm>
          <a:prstGeom prst="rect">
            <a:avLst/>
          </a:prstGeom>
        </p:spPr>
      </p:pic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26D2EB6E-8CA3-212E-B020-58662AC578EA}"/>
              </a:ext>
            </a:extLst>
          </p:cNvPr>
          <p:cNvSpPr/>
          <p:nvPr/>
        </p:nvSpPr>
        <p:spPr>
          <a:xfrm>
            <a:off x="794623" y="4659117"/>
            <a:ext cx="981653" cy="428850"/>
          </a:xfrm>
          <a:prstGeom prst="roundRect">
            <a:avLst>
              <a:gd name="adj" fmla="val 50000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API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8108B98-F11D-A7F8-BB64-5513A6F0833F}"/>
              </a:ext>
            </a:extLst>
          </p:cNvPr>
          <p:cNvCxnSpPr>
            <a:cxnSpLocks/>
            <a:endCxn id="67" idx="0"/>
          </p:cNvCxnSpPr>
          <p:nvPr/>
        </p:nvCxnSpPr>
        <p:spPr>
          <a:xfrm>
            <a:off x="1285450" y="4230267"/>
            <a:ext cx="0" cy="42885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D47C8E4B-53AF-E5DE-6CC4-9824CF6B3192}"/>
              </a:ext>
            </a:extLst>
          </p:cNvPr>
          <p:cNvCxnSpPr>
            <a:cxnSpLocks/>
          </p:cNvCxnSpPr>
          <p:nvPr/>
        </p:nvCxnSpPr>
        <p:spPr>
          <a:xfrm>
            <a:off x="1285450" y="5087967"/>
            <a:ext cx="0" cy="42885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EAC95A1B-906B-6BA5-63CB-BC97D44E5F1D}"/>
              </a:ext>
            </a:extLst>
          </p:cNvPr>
          <p:cNvSpPr txBox="1"/>
          <p:nvPr/>
        </p:nvSpPr>
        <p:spPr>
          <a:xfrm>
            <a:off x="15326" y="4304425"/>
            <a:ext cx="122647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050" dirty="0"/>
              <a:t>含二维码的图片</a:t>
            </a:r>
            <a:endParaRPr lang="en-US" sz="105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8969CB8-4107-85C1-E9B8-3CBF87ADFE63}"/>
              </a:ext>
            </a:extLst>
          </p:cNvPr>
          <p:cNvSpPr txBox="1"/>
          <p:nvPr/>
        </p:nvSpPr>
        <p:spPr>
          <a:xfrm>
            <a:off x="15325" y="5158870"/>
            <a:ext cx="122647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050" dirty="0"/>
              <a:t>二维码的信息</a:t>
            </a:r>
            <a:endParaRPr lang="en-US" sz="105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734CFC0-08B1-3E3B-99CF-87CC1FD46DD6}"/>
              </a:ext>
            </a:extLst>
          </p:cNvPr>
          <p:cNvSpPr txBox="1"/>
          <p:nvPr/>
        </p:nvSpPr>
        <p:spPr>
          <a:xfrm>
            <a:off x="1264626" y="4304425"/>
            <a:ext cx="5116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/>
              <a:t>输入</a:t>
            </a:r>
            <a:endParaRPr lang="en-US" sz="105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63CEFCF-6DEA-E524-35C7-196A12FCD26C}"/>
              </a:ext>
            </a:extLst>
          </p:cNvPr>
          <p:cNvSpPr txBox="1"/>
          <p:nvPr/>
        </p:nvSpPr>
        <p:spPr>
          <a:xfrm>
            <a:off x="1264626" y="5158870"/>
            <a:ext cx="5116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/>
              <a:t>输出</a:t>
            </a:r>
            <a:endParaRPr lang="en-US" sz="1050" dirty="0"/>
          </a:p>
        </p:txBody>
      </p:sp>
      <p:sp>
        <p:nvSpPr>
          <p:cNvPr id="79" name="Arrow: Right 78">
            <a:extLst>
              <a:ext uri="{FF2B5EF4-FFF2-40B4-BE49-F238E27FC236}">
                <a16:creationId xmlns:a16="http://schemas.microsoft.com/office/drawing/2014/main" id="{557B3C7C-2573-0CB9-D9F7-FBA6925CB8EB}"/>
              </a:ext>
            </a:extLst>
          </p:cNvPr>
          <p:cNvSpPr/>
          <p:nvPr/>
        </p:nvSpPr>
        <p:spPr>
          <a:xfrm rot="5400000">
            <a:off x="2680719" y="4660186"/>
            <a:ext cx="536134" cy="251504"/>
          </a:xfrm>
          <a:prstGeom prst="rightArrow">
            <a:avLst>
              <a:gd name="adj1" fmla="val 37130"/>
              <a:gd name="adj2" fmla="val 88610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Arrow: Right 80">
            <a:extLst>
              <a:ext uri="{FF2B5EF4-FFF2-40B4-BE49-F238E27FC236}">
                <a16:creationId xmlns:a16="http://schemas.microsoft.com/office/drawing/2014/main" id="{9E8A8658-3298-41EA-C81C-6C6997623404}"/>
              </a:ext>
            </a:extLst>
          </p:cNvPr>
          <p:cNvSpPr/>
          <p:nvPr/>
        </p:nvSpPr>
        <p:spPr>
          <a:xfrm rot="5400000">
            <a:off x="6011695" y="-10362"/>
            <a:ext cx="536134" cy="251504"/>
          </a:xfrm>
          <a:prstGeom prst="rightArrow">
            <a:avLst>
              <a:gd name="adj1" fmla="val 37130"/>
              <a:gd name="adj2" fmla="val 88610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Arrow: Right 82">
            <a:extLst>
              <a:ext uri="{FF2B5EF4-FFF2-40B4-BE49-F238E27FC236}">
                <a16:creationId xmlns:a16="http://schemas.microsoft.com/office/drawing/2014/main" id="{82363A49-C6BC-C3DB-7650-04E063568B86}"/>
              </a:ext>
            </a:extLst>
          </p:cNvPr>
          <p:cNvSpPr/>
          <p:nvPr/>
        </p:nvSpPr>
        <p:spPr>
          <a:xfrm rot="5400000">
            <a:off x="2680719" y="6732248"/>
            <a:ext cx="536134" cy="251504"/>
          </a:xfrm>
          <a:prstGeom prst="rightArrow">
            <a:avLst>
              <a:gd name="adj1" fmla="val 37130"/>
              <a:gd name="adj2" fmla="val 88610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5" name="Picture 84" descr="扣子PPT - AI工具箱网">
            <a:extLst>
              <a:ext uri="{FF2B5EF4-FFF2-40B4-BE49-F238E27FC236}">
                <a16:creationId xmlns:a16="http://schemas.microsoft.com/office/drawing/2014/main" id="{4D379D80-F5D6-6204-430B-C87E104C23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8789" y="1274267"/>
            <a:ext cx="490057" cy="490057"/>
          </a:xfrm>
          <a:prstGeom prst="rect">
            <a:avLst/>
          </a:prstGeom>
        </p:spPr>
      </p:pic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5E997C50-7200-05EE-9D60-51092AAA5344}"/>
              </a:ext>
            </a:extLst>
          </p:cNvPr>
          <p:cNvSpPr/>
          <p:nvPr/>
        </p:nvSpPr>
        <p:spPr>
          <a:xfrm>
            <a:off x="11012603" y="1504860"/>
            <a:ext cx="981653" cy="428850"/>
          </a:xfrm>
          <a:prstGeom prst="roundRect">
            <a:avLst>
              <a:gd name="adj" fmla="val 50000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API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D33EEC9E-55A5-6146-109E-AE8BF8B61750}"/>
              </a:ext>
            </a:extLst>
          </p:cNvPr>
          <p:cNvCxnSpPr>
            <a:cxnSpLocks/>
            <a:endCxn id="87" idx="0"/>
          </p:cNvCxnSpPr>
          <p:nvPr/>
        </p:nvCxnSpPr>
        <p:spPr>
          <a:xfrm>
            <a:off x="11503430" y="1076010"/>
            <a:ext cx="0" cy="42885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C15A344-8238-53FF-038D-861A3129E3BF}"/>
              </a:ext>
            </a:extLst>
          </p:cNvPr>
          <p:cNvCxnSpPr>
            <a:cxnSpLocks/>
          </p:cNvCxnSpPr>
          <p:nvPr/>
        </p:nvCxnSpPr>
        <p:spPr>
          <a:xfrm>
            <a:off x="11503430" y="1933710"/>
            <a:ext cx="0" cy="902069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00699C31-5268-3783-53EA-4FB976AE9BDD}"/>
              </a:ext>
            </a:extLst>
          </p:cNvPr>
          <p:cNvSpPr txBox="1"/>
          <p:nvPr/>
        </p:nvSpPr>
        <p:spPr>
          <a:xfrm>
            <a:off x="10763717" y="1156365"/>
            <a:ext cx="73971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050" dirty="0"/>
              <a:t>数据库</a:t>
            </a:r>
            <a:endParaRPr lang="en-US" sz="105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708928E-DA78-C9E6-BC5A-0A151F1C439B}"/>
              </a:ext>
            </a:extLst>
          </p:cNvPr>
          <p:cNvSpPr txBox="1"/>
          <p:nvPr/>
        </p:nvSpPr>
        <p:spPr>
          <a:xfrm>
            <a:off x="10663205" y="2198347"/>
            <a:ext cx="8762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dirty="0"/>
              <a:t>E</a:t>
            </a:r>
            <a:r>
              <a:rPr lang="en-US" altLang="zh-CN" sz="1050" dirty="0"/>
              <a:t>xcel</a:t>
            </a:r>
            <a:r>
              <a:rPr lang="zh-CN" altLang="en-US" sz="1050" dirty="0"/>
              <a:t>大表</a:t>
            </a:r>
            <a:endParaRPr lang="en-US" sz="105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3BD4D6E-E3CC-85D8-A9AA-B2E7F9331D71}"/>
              </a:ext>
            </a:extLst>
          </p:cNvPr>
          <p:cNvSpPr txBox="1"/>
          <p:nvPr/>
        </p:nvSpPr>
        <p:spPr>
          <a:xfrm>
            <a:off x="11482606" y="1150168"/>
            <a:ext cx="5116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/>
              <a:t>输入</a:t>
            </a:r>
            <a:endParaRPr lang="en-US" sz="105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62C5E3E-2FB0-DE3F-14C5-8B334359CC87}"/>
              </a:ext>
            </a:extLst>
          </p:cNvPr>
          <p:cNvSpPr txBox="1"/>
          <p:nvPr/>
        </p:nvSpPr>
        <p:spPr>
          <a:xfrm>
            <a:off x="11482606" y="2205134"/>
            <a:ext cx="5116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/>
              <a:t>中间</a:t>
            </a:r>
            <a:endParaRPr lang="en-US" sz="1050" dirty="0"/>
          </a:p>
        </p:txBody>
      </p:sp>
      <p:sp>
        <p:nvSpPr>
          <p:cNvPr id="95" name="Arrow: Right 94">
            <a:extLst>
              <a:ext uri="{FF2B5EF4-FFF2-40B4-BE49-F238E27FC236}">
                <a16:creationId xmlns:a16="http://schemas.microsoft.com/office/drawing/2014/main" id="{C4F8DBF3-9383-BA48-CF36-FB9562C46EF1}"/>
              </a:ext>
            </a:extLst>
          </p:cNvPr>
          <p:cNvSpPr/>
          <p:nvPr/>
        </p:nvSpPr>
        <p:spPr>
          <a:xfrm rot="5400000">
            <a:off x="6020326" y="2426873"/>
            <a:ext cx="402852" cy="251504"/>
          </a:xfrm>
          <a:prstGeom prst="rightArrow">
            <a:avLst>
              <a:gd name="adj1" fmla="val 37130"/>
              <a:gd name="adj2" fmla="val 88610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Arrow: Right 98">
            <a:extLst>
              <a:ext uri="{FF2B5EF4-FFF2-40B4-BE49-F238E27FC236}">
                <a16:creationId xmlns:a16="http://schemas.microsoft.com/office/drawing/2014/main" id="{A7A73515-3023-79F2-1C16-313D99AB9256}"/>
              </a:ext>
            </a:extLst>
          </p:cNvPr>
          <p:cNvSpPr/>
          <p:nvPr/>
        </p:nvSpPr>
        <p:spPr>
          <a:xfrm rot="5400000">
            <a:off x="6044336" y="4331939"/>
            <a:ext cx="402852" cy="251504"/>
          </a:xfrm>
          <a:prstGeom prst="rightArrow">
            <a:avLst>
              <a:gd name="adj1" fmla="val 37130"/>
              <a:gd name="adj2" fmla="val 88610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Arrow: Right 102">
            <a:extLst>
              <a:ext uri="{FF2B5EF4-FFF2-40B4-BE49-F238E27FC236}">
                <a16:creationId xmlns:a16="http://schemas.microsoft.com/office/drawing/2014/main" id="{9E7C6763-DDBB-5691-CBA5-25FF4F4373F0}"/>
              </a:ext>
            </a:extLst>
          </p:cNvPr>
          <p:cNvSpPr/>
          <p:nvPr/>
        </p:nvSpPr>
        <p:spPr>
          <a:xfrm rot="5400000">
            <a:off x="9326895" y="1416582"/>
            <a:ext cx="536134" cy="251504"/>
          </a:xfrm>
          <a:prstGeom prst="rightArrow">
            <a:avLst>
              <a:gd name="adj1" fmla="val 37130"/>
              <a:gd name="adj2" fmla="val 88610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Arrow: Right 104">
            <a:extLst>
              <a:ext uri="{FF2B5EF4-FFF2-40B4-BE49-F238E27FC236}">
                <a16:creationId xmlns:a16="http://schemas.microsoft.com/office/drawing/2014/main" id="{E5F5116B-C536-BCD7-9281-4593FEE2DE58}"/>
              </a:ext>
            </a:extLst>
          </p:cNvPr>
          <p:cNvSpPr/>
          <p:nvPr/>
        </p:nvSpPr>
        <p:spPr>
          <a:xfrm rot="5400000">
            <a:off x="9326895" y="3035181"/>
            <a:ext cx="536134" cy="251504"/>
          </a:xfrm>
          <a:prstGeom prst="rightArrow">
            <a:avLst>
              <a:gd name="adj1" fmla="val 37130"/>
              <a:gd name="adj2" fmla="val 88610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Arrow: Right 108">
            <a:extLst>
              <a:ext uri="{FF2B5EF4-FFF2-40B4-BE49-F238E27FC236}">
                <a16:creationId xmlns:a16="http://schemas.microsoft.com/office/drawing/2014/main" id="{C113758B-C72B-0827-3EFF-6FC4C4209F3D}"/>
              </a:ext>
            </a:extLst>
          </p:cNvPr>
          <p:cNvSpPr/>
          <p:nvPr/>
        </p:nvSpPr>
        <p:spPr>
          <a:xfrm rot="5400000">
            <a:off x="9393536" y="4331939"/>
            <a:ext cx="402852" cy="251504"/>
          </a:xfrm>
          <a:prstGeom prst="rightArrow">
            <a:avLst>
              <a:gd name="adj1" fmla="val 37130"/>
              <a:gd name="adj2" fmla="val 88610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Arrow: Right 110">
            <a:extLst>
              <a:ext uri="{FF2B5EF4-FFF2-40B4-BE49-F238E27FC236}">
                <a16:creationId xmlns:a16="http://schemas.microsoft.com/office/drawing/2014/main" id="{2AB3D382-E488-3CCA-5117-90E765F11078}"/>
              </a:ext>
            </a:extLst>
          </p:cNvPr>
          <p:cNvSpPr/>
          <p:nvPr/>
        </p:nvSpPr>
        <p:spPr>
          <a:xfrm rot="5400000">
            <a:off x="9393536" y="5486662"/>
            <a:ext cx="402852" cy="251504"/>
          </a:xfrm>
          <a:prstGeom prst="rightArrow">
            <a:avLst>
              <a:gd name="adj1" fmla="val 37130"/>
              <a:gd name="adj2" fmla="val 88610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Arrow: Right 112">
            <a:extLst>
              <a:ext uri="{FF2B5EF4-FFF2-40B4-BE49-F238E27FC236}">
                <a16:creationId xmlns:a16="http://schemas.microsoft.com/office/drawing/2014/main" id="{DA89C776-B6C1-134F-3793-CE93070A665F}"/>
              </a:ext>
            </a:extLst>
          </p:cNvPr>
          <p:cNvSpPr/>
          <p:nvPr/>
        </p:nvSpPr>
        <p:spPr>
          <a:xfrm rot="5400000">
            <a:off x="9326895" y="5928"/>
            <a:ext cx="536134" cy="251504"/>
          </a:xfrm>
          <a:prstGeom prst="rightArrow">
            <a:avLst>
              <a:gd name="adj1" fmla="val 37130"/>
              <a:gd name="adj2" fmla="val 88610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Arrow: Right 114">
            <a:extLst>
              <a:ext uri="{FF2B5EF4-FFF2-40B4-BE49-F238E27FC236}">
                <a16:creationId xmlns:a16="http://schemas.microsoft.com/office/drawing/2014/main" id="{973D17F6-12CF-3337-C347-DCF98690EE44}"/>
              </a:ext>
            </a:extLst>
          </p:cNvPr>
          <p:cNvSpPr/>
          <p:nvPr/>
        </p:nvSpPr>
        <p:spPr>
          <a:xfrm rot="5400000">
            <a:off x="5977695" y="6732248"/>
            <a:ext cx="536134" cy="251504"/>
          </a:xfrm>
          <a:prstGeom prst="rightArrow">
            <a:avLst>
              <a:gd name="adj1" fmla="val 37130"/>
              <a:gd name="adj2" fmla="val 88610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6" name="Picture 115" descr="小组">
            <a:extLst>
              <a:ext uri="{FF2B5EF4-FFF2-40B4-BE49-F238E27FC236}">
                <a16:creationId xmlns:a16="http://schemas.microsoft.com/office/drawing/2014/main" id="{961240EE-DECD-A878-7A4C-79CA972F16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2617" y="2921315"/>
            <a:ext cx="762400" cy="428850"/>
          </a:xfrm>
          <a:prstGeom prst="rect">
            <a:avLst/>
          </a:prstGeom>
        </p:spPr>
      </p:pic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3461AFC8-B7C8-039D-75CC-0F59236CB714}"/>
              </a:ext>
            </a:extLst>
          </p:cNvPr>
          <p:cNvSpPr/>
          <p:nvPr/>
        </p:nvSpPr>
        <p:spPr>
          <a:xfrm>
            <a:off x="3124351" y="4603200"/>
            <a:ext cx="999357" cy="25642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tx1"/>
                </a:solidFill>
              </a:rPr>
              <a:t>CozeCode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A8D17B40-69C7-DEDB-1A03-EFC712D63BA7}"/>
              </a:ext>
            </a:extLst>
          </p:cNvPr>
          <p:cNvSpPr/>
          <p:nvPr/>
        </p:nvSpPr>
        <p:spPr>
          <a:xfrm>
            <a:off x="9792518" y="1411124"/>
            <a:ext cx="999357" cy="25642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tx1"/>
                </a:solidFill>
              </a:rPr>
              <a:t>CozeCode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968C9F6C-213E-2893-4C73-56FD902633A4}"/>
              </a:ext>
            </a:extLst>
          </p:cNvPr>
          <p:cNvSpPr/>
          <p:nvPr/>
        </p:nvSpPr>
        <p:spPr>
          <a:xfrm>
            <a:off x="9816420" y="2987952"/>
            <a:ext cx="999357" cy="25642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Python</a:t>
            </a:r>
          </a:p>
        </p:txBody>
      </p:sp>
      <p:pic>
        <p:nvPicPr>
          <p:cNvPr id="125" name="Graphic 124" descr="Web design outline">
            <a:extLst>
              <a:ext uri="{FF2B5EF4-FFF2-40B4-BE49-F238E27FC236}">
                <a16:creationId xmlns:a16="http://schemas.microsoft.com/office/drawing/2014/main" id="{F6AE8201-7379-EE17-96FF-5BFD25E956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23743" y="2764570"/>
            <a:ext cx="559371" cy="559371"/>
          </a:xfrm>
          <a:prstGeom prst="rect">
            <a:avLst/>
          </a:prstGeom>
        </p:spPr>
      </p:pic>
      <p:sp>
        <p:nvSpPr>
          <p:cNvPr id="129" name="TextBox 128">
            <a:extLst>
              <a:ext uri="{FF2B5EF4-FFF2-40B4-BE49-F238E27FC236}">
                <a16:creationId xmlns:a16="http://schemas.microsoft.com/office/drawing/2014/main" id="{0FBF6899-BE5E-5EBC-E745-9B77C7D402A2}"/>
              </a:ext>
            </a:extLst>
          </p:cNvPr>
          <p:cNvSpPr txBox="1"/>
          <p:nvPr/>
        </p:nvSpPr>
        <p:spPr>
          <a:xfrm>
            <a:off x="10627160" y="3323941"/>
            <a:ext cx="8762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050" dirty="0"/>
              <a:t>终检报告</a:t>
            </a:r>
            <a:endParaRPr lang="en-US" sz="105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400678DB-74A4-0F74-7062-3777459A2EA8}"/>
              </a:ext>
            </a:extLst>
          </p:cNvPr>
          <p:cNvSpPr txBox="1"/>
          <p:nvPr/>
        </p:nvSpPr>
        <p:spPr>
          <a:xfrm>
            <a:off x="11482606" y="3330728"/>
            <a:ext cx="5116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/>
              <a:t>输出</a:t>
            </a:r>
            <a:endParaRPr lang="en-US" sz="1050" dirty="0"/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1BD21B48-2A62-883C-DCC6-F06157236F03}"/>
              </a:ext>
            </a:extLst>
          </p:cNvPr>
          <p:cNvCxnSpPr>
            <a:cxnSpLocks/>
          </p:cNvCxnSpPr>
          <p:nvPr/>
        </p:nvCxnSpPr>
        <p:spPr>
          <a:xfrm>
            <a:off x="11506889" y="3214575"/>
            <a:ext cx="0" cy="42885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7" name="Picture 136" descr="Rokid Glasses">
            <a:extLst>
              <a:ext uri="{FF2B5EF4-FFF2-40B4-BE49-F238E27FC236}">
                <a16:creationId xmlns:a16="http://schemas.microsoft.com/office/drawing/2014/main" id="{DF86199F-0017-07DA-4D17-F31F3DE7795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02536" y="1714313"/>
            <a:ext cx="867098" cy="722142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10252DCB-F6A7-64FA-E584-02D3E8472C3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13588" y="1694676"/>
            <a:ext cx="819987" cy="38070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6C9E65-064B-CAEF-FBA7-FF2AB1816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ADA5A-990A-4180-8E3C-C8179AEE668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804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3380E69-15BA-57CF-4E3C-7270A1933282}"/>
              </a:ext>
            </a:extLst>
          </p:cNvPr>
          <p:cNvGrpSpPr/>
          <p:nvPr/>
        </p:nvGrpSpPr>
        <p:grpSpPr>
          <a:xfrm>
            <a:off x="4970891" y="2989804"/>
            <a:ext cx="2250218" cy="1431236"/>
            <a:chOff x="1073427" y="2394668"/>
            <a:chExt cx="2250218" cy="14312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6BC56DB-7497-615C-BA3D-182689DD0A3A}"/>
                </a:ext>
              </a:extLst>
            </p:cNvPr>
            <p:cNvSpPr/>
            <p:nvPr/>
          </p:nvSpPr>
          <p:spPr>
            <a:xfrm>
              <a:off x="1073427" y="2394668"/>
              <a:ext cx="2250218" cy="715618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dirty="0">
                  <a:solidFill>
                    <a:schemeClr val="accent6"/>
                  </a:solidFill>
                </a:rPr>
                <a:t>2 </a:t>
              </a:r>
              <a:r>
                <a:rPr lang="zh-CN" altLang="en-US" dirty="0">
                  <a:solidFill>
                    <a:schemeClr val="accent6"/>
                  </a:solidFill>
                </a:rPr>
                <a:t>读取项目信息</a:t>
              </a:r>
              <a:endParaRPr lang="en-US" dirty="0">
                <a:solidFill>
                  <a:schemeClr val="accent6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8D9C585-9FD0-7B56-8AAB-BFA4EFC1761E}"/>
                </a:ext>
              </a:extLst>
            </p:cNvPr>
            <p:cNvSpPr/>
            <p:nvPr/>
          </p:nvSpPr>
          <p:spPr>
            <a:xfrm>
              <a:off x="1073427" y="3110286"/>
              <a:ext cx="2250218" cy="715618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dirty="0">
                  <a:solidFill>
                    <a:sysClr val="windowText" lastClr="000000"/>
                  </a:solidFill>
                </a:rPr>
                <a:t>设备型号</a:t>
              </a:r>
              <a:r>
                <a:rPr lang="en-US" altLang="zh-CN" sz="1200" dirty="0">
                  <a:solidFill>
                    <a:sysClr val="windowText" lastClr="000000"/>
                  </a:solidFill>
                </a:rPr>
                <a:t>	</a:t>
              </a:r>
              <a:r>
                <a:rPr lang="zh-CN" altLang="en-US" sz="1200" dirty="0">
                  <a:solidFill>
                    <a:sysClr val="windowText" lastClr="000000"/>
                  </a:solidFill>
                </a:rPr>
                <a:t>项目号</a:t>
              </a:r>
              <a:endParaRPr lang="en-US" altLang="zh-CN" sz="1200" dirty="0">
                <a:solidFill>
                  <a:sysClr val="windowText" lastClr="000000"/>
                </a:solidFill>
              </a:endParaRPr>
            </a:p>
            <a:p>
              <a:r>
                <a:rPr lang="zh-CN" altLang="en-US" sz="1200" dirty="0">
                  <a:solidFill>
                    <a:sysClr val="windowText" lastClr="000000"/>
                  </a:solidFill>
                </a:rPr>
                <a:t>间隔号</a:t>
              </a:r>
              <a:r>
                <a:rPr lang="en-US" altLang="zh-CN" sz="1200" dirty="0">
                  <a:solidFill>
                    <a:sysClr val="windowText" lastClr="000000"/>
                  </a:solidFill>
                </a:rPr>
                <a:t>	</a:t>
              </a:r>
              <a:r>
                <a:rPr lang="zh-CN" altLang="en-US" sz="1200" dirty="0">
                  <a:solidFill>
                    <a:sysClr val="windowText" lastClr="000000"/>
                  </a:solidFill>
                </a:rPr>
                <a:t>批号</a:t>
              </a:r>
              <a:endParaRPr lang="en-US" altLang="zh-CN" sz="1200" dirty="0">
                <a:solidFill>
                  <a:sysClr val="windowText" lastClr="000000"/>
                </a:solidFill>
              </a:endParaRPr>
            </a:p>
            <a:p>
              <a:r>
                <a:rPr lang="zh-CN" altLang="en-US" sz="1200" dirty="0">
                  <a:solidFill>
                    <a:sysClr val="windowText" lastClr="000000"/>
                  </a:solidFill>
                </a:rPr>
                <a:t>图纸页码</a:t>
              </a:r>
              <a:r>
                <a:rPr lang="en-US" altLang="zh-CN" sz="1200" dirty="0">
                  <a:solidFill>
                    <a:sysClr val="windowText" lastClr="000000"/>
                  </a:solidFill>
                </a:rPr>
                <a:t>	</a:t>
              </a:r>
              <a:r>
                <a:rPr lang="zh-CN" altLang="en-US" sz="1200" dirty="0">
                  <a:solidFill>
                    <a:sysClr val="windowText" lastClr="000000"/>
                  </a:solidFill>
                </a:rPr>
                <a:t>运输模块代码</a:t>
              </a:r>
              <a:endParaRPr lang="en-US" sz="1200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D4620FC4-DB97-6C7B-B483-A74A89F87912}"/>
              </a:ext>
            </a:extLst>
          </p:cNvPr>
          <p:cNvSpPr/>
          <p:nvPr/>
        </p:nvSpPr>
        <p:spPr>
          <a:xfrm>
            <a:off x="4970891" y="1093526"/>
            <a:ext cx="2250218" cy="71561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accent2"/>
                </a:solidFill>
              </a:rPr>
              <a:t>1 </a:t>
            </a:r>
            <a:r>
              <a:rPr lang="zh-CN" altLang="en-US" dirty="0">
                <a:solidFill>
                  <a:schemeClr val="accent2"/>
                </a:solidFill>
              </a:rPr>
              <a:t>扫描唛头二维码</a:t>
            </a: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13" name="Picture 12" descr="扣子PPT - AI工具箱网">
            <a:extLst>
              <a:ext uri="{FF2B5EF4-FFF2-40B4-BE49-F238E27FC236}">
                <a16:creationId xmlns:a16="http://schemas.microsoft.com/office/drawing/2014/main" id="{EF540298-D475-3EE6-4C85-4D754F237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7574" y="2367182"/>
            <a:ext cx="490057" cy="490057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2D8664C-9254-B0E5-53B3-64F48E3AC892}"/>
              </a:ext>
            </a:extLst>
          </p:cNvPr>
          <p:cNvSpPr/>
          <p:nvPr/>
        </p:nvSpPr>
        <p:spPr>
          <a:xfrm>
            <a:off x="3889613" y="2523875"/>
            <a:ext cx="981653" cy="428850"/>
          </a:xfrm>
          <a:prstGeom prst="roundRect">
            <a:avLst>
              <a:gd name="adj" fmla="val 50000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API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FB843B2-ED31-F44C-FC7A-EB94040312A2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4380440" y="2095025"/>
            <a:ext cx="0" cy="42885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C3B7C40-11A8-CF6B-53C6-523B5FEAEB48}"/>
              </a:ext>
            </a:extLst>
          </p:cNvPr>
          <p:cNvCxnSpPr>
            <a:cxnSpLocks/>
          </p:cNvCxnSpPr>
          <p:nvPr/>
        </p:nvCxnSpPr>
        <p:spPr>
          <a:xfrm>
            <a:off x="4380440" y="2952725"/>
            <a:ext cx="0" cy="42885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89D1BA3-81FB-BE64-C36B-6984484E97A2}"/>
              </a:ext>
            </a:extLst>
          </p:cNvPr>
          <p:cNvSpPr txBox="1"/>
          <p:nvPr/>
        </p:nvSpPr>
        <p:spPr>
          <a:xfrm>
            <a:off x="3110316" y="2169183"/>
            <a:ext cx="122647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050" dirty="0"/>
              <a:t>含二维码的图片</a:t>
            </a:r>
            <a:endParaRPr lang="en-US" sz="105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A8C6F1-212C-DB14-E819-EE2EE35368A3}"/>
              </a:ext>
            </a:extLst>
          </p:cNvPr>
          <p:cNvSpPr txBox="1"/>
          <p:nvPr/>
        </p:nvSpPr>
        <p:spPr>
          <a:xfrm>
            <a:off x="3110315" y="3023628"/>
            <a:ext cx="122647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050" dirty="0"/>
              <a:t>二维码的信息</a:t>
            </a:r>
            <a:endParaRPr lang="en-US" sz="105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7BD57C-978F-2740-7BB9-6D3CD42475A5}"/>
              </a:ext>
            </a:extLst>
          </p:cNvPr>
          <p:cNvSpPr txBox="1"/>
          <p:nvPr/>
        </p:nvSpPr>
        <p:spPr>
          <a:xfrm>
            <a:off x="4359616" y="2169183"/>
            <a:ext cx="5116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/>
              <a:t>输入</a:t>
            </a:r>
            <a:endParaRPr lang="en-US" sz="105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095449-FB17-BB39-CDD6-9FE02DBEB41C}"/>
              </a:ext>
            </a:extLst>
          </p:cNvPr>
          <p:cNvSpPr txBox="1"/>
          <p:nvPr/>
        </p:nvSpPr>
        <p:spPr>
          <a:xfrm>
            <a:off x="4359616" y="3023628"/>
            <a:ext cx="5116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/>
              <a:t>输出</a:t>
            </a:r>
            <a:endParaRPr lang="en-US" sz="1050" dirty="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0E178A48-BCC1-93D1-740F-40088CC89292}"/>
              </a:ext>
            </a:extLst>
          </p:cNvPr>
          <p:cNvSpPr/>
          <p:nvPr/>
        </p:nvSpPr>
        <p:spPr>
          <a:xfrm rot="5400000">
            <a:off x="5562517" y="2308802"/>
            <a:ext cx="911938" cy="251504"/>
          </a:xfrm>
          <a:prstGeom prst="rightArrow">
            <a:avLst>
              <a:gd name="adj1" fmla="val 37130"/>
              <a:gd name="adj2" fmla="val 88610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5C4C253-6EB7-7B12-A02A-9E1D93ADC1DA}"/>
              </a:ext>
            </a:extLst>
          </p:cNvPr>
          <p:cNvSpPr/>
          <p:nvPr/>
        </p:nvSpPr>
        <p:spPr>
          <a:xfrm>
            <a:off x="6219341" y="2467958"/>
            <a:ext cx="999357" cy="25642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tx1"/>
                </a:solidFill>
              </a:rPr>
              <a:t>CozeCode</a:t>
            </a:r>
            <a:endParaRPr lang="en-US" sz="1100" dirty="0">
              <a:solidFill>
                <a:schemeClr val="tx1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60A315D-3B4F-AE87-9874-ACD1D4270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0717" y="874036"/>
            <a:ext cx="1916223" cy="255496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BD8F63DD-13FA-C8F1-0F31-6691673E70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7578" y="4650821"/>
            <a:ext cx="3105583" cy="1762371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EE52E539-55FD-95F7-906E-130EF533D8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338" y="1289298"/>
            <a:ext cx="2768151" cy="3605348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350D5636-47E7-D148-F7EF-33571612F9A0}"/>
              </a:ext>
            </a:extLst>
          </p:cNvPr>
          <p:cNvSpPr/>
          <p:nvPr/>
        </p:nvSpPr>
        <p:spPr>
          <a:xfrm>
            <a:off x="239245" y="1316056"/>
            <a:ext cx="45719" cy="357859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B990E1D-E456-5288-6228-E1CCDD4E791A}"/>
              </a:ext>
            </a:extLst>
          </p:cNvPr>
          <p:cNvSpPr/>
          <p:nvPr/>
        </p:nvSpPr>
        <p:spPr>
          <a:xfrm>
            <a:off x="8353101" y="783358"/>
            <a:ext cx="45719" cy="27204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EB498D5-D3CB-35D0-0C9F-30E2A9B582CB}"/>
              </a:ext>
            </a:extLst>
          </p:cNvPr>
          <p:cNvSpPr/>
          <p:nvPr/>
        </p:nvSpPr>
        <p:spPr>
          <a:xfrm flipH="1">
            <a:off x="5146397" y="4523901"/>
            <a:ext cx="53906" cy="20162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F0319F9-771D-5593-EE75-E54C0E3248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3221" y="3757911"/>
            <a:ext cx="3209441" cy="2598439"/>
          </a:xfrm>
          <a:prstGeom prst="rect">
            <a:avLst/>
          </a:prstGeom>
        </p:spPr>
      </p:pic>
      <p:sp>
        <p:nvSpPr>
          <p:cNvPr id="65" name="Flowchart: Extract 64">
            <a:extLst>
              <a:ext uri="{FF2B5EF4-FFF2-40B4-BE49-F238E27FC236}">
                <a16:creationId xmlns:a16="http://schemas.microsoft.com/office/drawing/2014/main" id="{C1BBC941-8D2C-64AF-817E-08AE80C9303F}"/>
              </a:ext>
            </a:extLst>
          </p:cNvPr>
          <p:cNvSpPr/>
          <p:nvPr/>
        </p:nvSpPr>
        <p:spPr>
          <a:xfrm rot="5400000">
            <a:off x="8154939" y="4031504"/>
            <a:ext cx="194551" cy="201772"/>
          </a:xfrm>
          <a:prstGeom prst="flowChartExtra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Slide Number Placeholder 65">
            <a:extLst>
              <a:ext uri="{FF2B5EF4-FFF2-40B4-BE49-F238E27FC236}">
                <a16:creationId xmlns:a16="http://schemas.microsoft.com/office/drawing/2014/main" id="{5AE89D4F-8DBB-506E-C559-E28FD441E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ADA5A-990A-4180-8E3C-C8179AEE668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524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7AB5C8-4665-6276-324B-E696BF22FADF}"/>
              </a:ext>
            </a:extLst>
          </p:cNvPr>
          <p:cNvSpPr/>
          <p:nvPr/>
        </p:nvSpPr>
        <p:spPr>
          <a:xfrm>
            <a:off x="4970891" y="719189"/>
            <a:ext cx="2250218" cy="715618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accent5"/>
                </a:solidFill>
              </a:rPr>
              <a:t>3 </a:t>
            </a:r>
            <a:r>
              <a:rPr lang="zh-CN" altLang="en-US" dirty="0">
                <a:solidFill>
                  <a:schemeClr val="accent5"/>
                </a:solidFill>
              </a:rPr>
              <a:t>读取检测项目清单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87EE4C-5C1A-3B1F-88FB-3DBFE398CE9C}"/>
              </a:ext>
            </a:extLst>
          </p:cNvPr>
          <p:cNvSpPr/>
          <p:nvPr/>
        </p:nvSpPr>
        <p:spPr>
          <a:xfrm>
            <a:off x="4970891" y="4140294"/>
            <a:ext cx="2250218" cy="715618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accent6"/>
                </a:solidFill>
              </a:rPr>
              <a:t>5 </a:t>
            </a:r>
            <a:r>
              <a:rPr lang="zh-CN" altLang="en-US" dirty="0">
                <a:solidFill>
                  <a:schemeClr val="accent6"/>
                </a:solidFill>
              </a:rPr>
              <a:t>用户输入检测结果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D926B2-0E93-714C-B38C-830C17223641}"/>
              </a:ext>
            </a:extLst>
          </p:cNvPr>
          <p:cNvSpPr/>
          <p:nvPr/>
        </p:nvSpPr>
        <p:spPr>
          <a:xfrm>
            <a:off x="4970891" y="2724910"/>
            <a:ext cx="2250218" cy="715618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accent6"/>
                </a:solidFill>
              </a:rPr>
              <a:t>4 </a:t>
            </a:r>
            <a:r>
              <a:rPr lang="zh-CN" altLang="en-US" dirty="0">
                <a:solidFill>
                  <a:schemeClr val="accent6"/>
                </a:solidFill>
              </a:rPr>
              <a:t>逐条输出检测项目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69F214CA-1AE7-A8FD-2089-EC42B2F6F87F}"/>
              </a:ext>
            </a:extLst>
          </p:cNvPr>
          <p:cNvSpPr/>
          <p:nvPr/>
        </p:nvSpPr>
        <p:spPr>
          <a:xfrm rot="5400000">
            <a:off x="5654983" y="1855693"/>
            <a:ext cx="882033" cy="251504"/>
          </a:xfrm>
          <a:prstGeom prst="rightArrow">
            <a:avLst>
              <a:gd name="adj1" fmla="val 37130"/>
              <a:gd name="adj2" fmla="val 88610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AB17C40C-737B-87AC-C5FF-6AEFFFB7CBB3}"/>
              </a:ext>
            </a:extLst>
          </p:cNvPr>
          <p:cNvSpPr/>
          <p:nvPr/>
        </p:nvSpPr>
        <p:spPr>
          <a:xfrm rot="5400000">
            <a:off x="5827933" y="3653868"/>
            <a:ext cx="536134" cy="251504"/>
          </a:xfrm>
          <a:prstGeom prst="rightArrow">
            <a:avLst>
              <a:gd name="adj1" fmla="val 37130"/>
              <a:gd name="adj2" fmla="val 88610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2EE5F44-44DF-0754-94EB-AF0CDFCE134D}"/>
              </a:ext>
            </a:extLst>
          </p:cNvPr>
          <p:cNvSpPr/>
          <p:nvPr/>
        </p:nvSpPr>
        <p:spPr>
          <a:xfrm>
            <a:off x="4970891" y="5713581"/>
            <a:ext cx="2250218" cy="71561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accent2"/>
                </a:solidFill>
              </a:rPr>
              <a:t>6 </a:t>
            </a:r>
            <a:r>
              <a:rPr lang="zh-CN" altLang="en-US" dirty="0">
                <a:solidFill>
                  <a:schemeClr val="accent2"/>
                </a:solidFill>
              </a:rPr>
              <a:t>记录检测结果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983E6AC8-1EBB-C04A-9FDA-E3CBE72F79D5}"/>
              </a:ext>
            </a:extLst>
          </p:cNvPr>
          <p:cNvSpPr/>
          <p:nvPr/>
        </p:nvSpPr>
        <p:spPr>
          <a:xfrm rot="5400000">
            <a:off x="5827933" y="5046051"/>
            <a:ext cx="536134" cy="251504"/>
          </a:xfrm>
          <a:prstGeom prst="rightArrow">
            <a:avLst>
              <a:gd name="adj1" fmla="val 37130"/>
              <a:gd name="adj2" fmla="val 88610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791EDD4-6B1E-DF44-D82F-CEAE2A1DB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7777" y="288303"/>
            <a:ext cx="4006326" cy="2191848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83601FD4-DD03-3D6D-14CF-D13BC2A1953D}"/>
              </a:ext>
            </a:extLst>
          </p:cNvPr>
          <p:cNvSpPr txBox="1"/>
          <p:nvPr/>
        </p:nvSpPr>
        <p:spPr>
          <a:xfrm>
            <a:off x="7054440" y="7357"/>
            <a:ext cx="2250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/>
              <a:t>device_id</a:t>
            </a:r>
            <a:r>
              <a:rPr lang="en-US" altLang="zh-CN" sz="1400" dirty="0"/>
              <a:t> = “8DN9-2”</a:t>
            </a:r>
            <a:endParaRPr lang="en-US" sz="14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D76E840-4279-C5A1-FECE-2AD03DF7A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7777" y="2747771"/>
            <a:ext cx="3095354" cy="1687768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E4A6C139-05FA-34B7-DC03-BE9FCA292BE7}"/>
              </a:ext>
            </a:extLst>
          </p:cNvPr>
          <p:cNvGrpSpPr/>
          <p:nvPr/>
        </p:nvGrpSpPr>
        <p:grpSpPr>
          <a:xfrm>
            <a:off x="7847777" y="4551476"/>
            <a:ext cx="3278218" cy="2303231"/>
            <a:chOff x="8538937" y="2697110"/>
            <a:chExt cx="3278218" cy="2303231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F691BCD4-091B-D0D5-DB4C-07B6F858E1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38937" y="2697110"/>
              <a:ext cx="3278218" cy="1900519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65D52E02-CD6A-F821-6764-49833A7AE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538937" y="4597629"/>
              <a:ext cx="3278218" cy="402712"/>
            </a:xfrm>
            <a:prstGeom prst="rect">
              <a:avLst/>
            </a:prstGeom>
          </p:spPr>
        </p:pic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D845830F-5791-C201-6317-145ABA5BDC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430" y="3961252"/>
            <a:ext cx="4326404" cy="2692099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94369174-77AF-9882-FB0E-F638294BDC52}"/>
              </a:ext>
            </a:extLst>
          </p:cNvPr>
          <p:cNvSpPr/>
          <p:nvPr/>
        </p:nvSpPr>
        <p:spPr>
          <a:xfrm>
            <a:off x="4606736" y="4140294"/>
            <a:ext cx="45719" cy="251529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AAD0E9D-0C40-7EA7-A86A-E346DFC6E547}"/>
              </a:ext>
            </a:extLst>
          </p:cNvPr>
          <p:cNvSpPr/>
          <p:nvPr/>
        </p:nvSpPr>
        <p:spPr>
          <a:xfrm>
            <a:off x="7408991" y="2769909"/>
            <a:ext cx="45719" cy="397671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99992F2-491B-850A-00EE-478FC76BB2A3}"/>
              </a:ext>
            </a:extLst>
          </p:cNvPr>
          <p:cNvSpPr/>
          <p:nvPr/>
        </p:nvSpPr>
        <p:spPr>
          <a:xfrm flipH="1">
            <a:off x="7404585" y="345992"/>
            <a:ext cx="45719" cy="207647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Slide Number Placeholder 46">
            <a:extLst>
              <a:ext uri="{FF2B5EF4-FFF2-40B4-BE49-F238E27FC236}">
                <a16:creationId xmlns:a16="http://schemas.microsoft.com/office/drawing/2014/main" id="{8DBEE377-22B1-BE19-D6D0-96C7A96FF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ADA5A-990A-4180-8E3C-C8179AEE668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233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9DDE2E-00BF-546F-09F5-C48AC87F2F93}"/>
              </a:ext>
            </a:extLst>
          </p:cNvPr>
          <p:cNvSpPr/>
          <p:nvPr/>
        </p:nvSpPr>
        <p:spPr>
          <a:xfrm>
            <a:off x="4899717" y="420908"/>
            <a:ext cx="2250218" cy="71561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accent2"/>
                </a:solidFill>
              </a:rPr>
              <a:t>6 </a:t>
            </a:r>
            <a:r>
              <a:rPr lang="zh-CN" altLang="en-US" dirty="0">
                <a:solidFill>
                  <a:schemeClr val="accent2"/>
                </a:solidFill>
              </a:rPr>
              <a:t>记录检测结果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AFEBAF-EBFC-1AD7-F4FA-FD1144963FE1}"/>
              </a:ext>
            </a:extLst>
          </p:cNvPr>
          <p:cNvSpPr/>
          <p:nvPr/>
        </p:nvSpPr>
        <p:spPr>
          <a:xfrm>
            <a:off x="4899717" y="1972329"/>
            <a:ext cx="2250218" cy="7156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accent1"/>
                </a:solidFill>
              </a:rPr>
              <a:t>7 </a:t>
            </a:r>
            <a:r>
              <a:rPr lang="zh-CN" altLang="en-US" dirty="0">
                <a:solidFill>
                  <a:schemeClr val="accent1"/>
                </a:solidFill>
              </a:rPr>
              <a:t>导出该间隔数据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0DF354-996A-F2D8-A53F-4F7FBFEF4046}"/>
              </a:ext>
            </a:extLst>
          </p:cNvPr>
          <p:cNvSpPr/>
          <p:nvPr/>
        </p:nvSpPr>
        <p:spPr>
          <a:xfrm>
            <a:off x="4899717" y="3519922"/>
            <a:ext cx="2250218" cy="715618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accent4"/>
                </a:solidFill>
              </a:rPr>
              <a:t>8 </a:t>
            </a:r>
            <a:r>
              <a:rPr lang="zh-CN" altLang="en-US" dirty="0">
                <a:solidFill>
                  <a:schemeClr val="accent4"/>
                </a:solidFill>
              </a:rPr>
              <a:t>填入终检报告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75FCE0-B4DB-AD86-99EE-632C4F5060C0}"/>
              </a:ext>
            </a:extLst>
          </p:cNvPr>
          <p:cNvSpPr/>
          <p:nvPr/>
        </p:nvSpPr>
        <p:spPr>
          <a:xfrm>
            <a:off x="4899717" y="4664390"/>
            <a:ext cx="2250218" cy="715618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accent4"/>
                </a:solidFill>
              </a:rPr>
              <a:t>9 </a:t>
            </a:r>
            <a:r>
              <a:rPr lang="zh-CN" altLang="en-US" dirty="0">
                <a:solidFill>
                  <a:schemeClr val="accent4"/>
                </a:solidFill>
              </a:rPr>
              <a:t>调整终检报告格式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5CB108-D15E-1768-BF61-9E626E63CA13}"/>
              </a:ext>
            </a:extLst>
          </p:cNvPr>
          <p:cNvSpPr/>
          <p:nvPr/>
        </p:nvSpPr>
        <p:spPr>
          <a:xfrm>
            <a:off x="4899717" y="5808858"/>
            <a:ext cx="2250218" cy="715618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accent3"/>
                </a:solidFill>
              </a:rPr>
              <a:t>10 </a:t>
            </a:r>
            <a:r>
              <a:rPr lang="zh-CN" altLang="en-US" dirty="0">
                <a:solidFill>
                  <a:schemeClr val="accent3"/>
                </a:solidFill>
              </a:rPr>
              <a:t>完成终检报告</a:t>
            </a:r>
            <a:endParaRPr lang="en-US" dirty="0">
              <a:solidFill>
                <a:schemeClr val="accent3"/>
              </a:solidFill>
            </a:endParaRPr>
          </a:p>
        </p:txBody>
      </p:sp>
      <p:pic>
        <p:nvPicPr>
          <p:cNvPr id="7" name="Picture 6" descr="扣子PPT - AI工具箱网">
            <a:extLst>
              <a:ext uri="{FF2B5EF4-FFF2-40B4-BE49-F238E27FC236}">
                <a16:creationId xmlns:a16="http://schemas.microsoft.com/office/drawing/2014/main" id="{D962D029-4018-1403-FC76-DF0B16B23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8653" y="1242461"/>
            <a:ext cx="490057" cy="490057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0A4D106-5CFB-050D-5198-2C59FF4C8576}"/>
              </a:ext>
            </a:extLst>
          </p:cNvPr>
          <p:cNvSpPr/>
          <p:nvPr/>
        </p:nvSpPr>
        <p:spPr>
          <a:xfrm>
            <a:off x="3846260" y="1337040"/>
            <a:ext cx="981653" cy="428850"/>
          </a:xfrm>
          <a:prstGeom prst="roundRect">
            <a:avLst>
              <a:gd name="adj" fmla="val 50000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API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410188C-FB73-85CB-80A6-C023F2B93E5F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4337087" y="908190"/>
            <a:ext cx="0" cy="42885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349BAEB-B588-CC74-CF51-B7A38A579EC4}"/>
              </a:ext>
            </a:extLst>
          </p:cNvPr>
          <p:cNvCxnSpPr>
            <a:cxnSpLocks/>
          </p:cNvCxnSpPr>
          <p:nvPr/>
        </p:nvCxnSpPr>
        <p:spPr>
          <a:xfrm>
            <a:off x="4337087" y="1765890"/>
            <a:ext cx="0" cy="902069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96CB644-8E07-9F30-E650-7530ACD34C27}"/>
              </a:ext>
            </a:extLst>
          </p:cNvPr>
          <p:cNvSpPr txBox="1"/>
          <p:nvPr/>
        </p:nvSpPr>
        <p:spPr>
          <a:xfrm>
            <a:off x="3597374" y="988545"/>
            <a:ext cx="73971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050" dirty="0"/>
              <a:t>数据库</a:t>
            </a:r>
            <a:endParaRPr lang="en-US" sz="10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AD2D6E-05AA-50A3-D868-719904FE9580}"/>
              </a:ext>
            </a:extLst>
          </p:cNvPr>
          <p:cNvSpPr txBox="1"/>
          <p:nvPr/>
        </p:nvSpPr>
        <p:spPr>
          <a:xfrm>
            <a:off x="3496862" y="2030527"/>
            <a:ext cx="8762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dirty="0"/>
              <a:t>E</a:t>
            </a:r>
            <a:r>
              <a:rPr lang="en-US" altLang="zh-CN" sz="1050" dirty="0"/>
              <a:t>xcel</a:t>
            </a:r>
            <a:r>
              <a:rPr lang="zh-CN" altLang="en-US" sz="1050" dirty="0"/>
              <a:t>大表</a:t>
            </a:r>
            <a:endParaRPr lang="en-US" sz="10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D88592-699C-5211-3704-384A32FA95D2}"/>
              </a:ext>
            </a:extLst>
          </p:cNvPr>
          <p:cNvSpPr txBox="1"/>
          <p:nvPr/>
        </p:nvSpPr>
        <p:spPr>
          <a:xfrm>
            <a:off x="4316263" y="982348"/>
            <a:ext cx="5116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/>
              <a:t>输入</a:t>
            </a:r>
            <a:endParaRPr lang="en-US" sz="10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EBAD41-37F9-AE43-FED0-CF11386E11D0}"/>
              </a:ext>
            </a:extLst>
          </p:cNvPr>
          <p:cNvSpPr txBox="1"/>
          <p:nvPr/>
        </p:nvSpPr>
        <p:spPr>
          <a:xfrm>
            <a:off x="4316263" y="2037314"/>
            <a:ext cx="5116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/>
              <a:t>中间</a:t>
            </a:r>
            <a:endParaRPr lang="en-US" sz="1050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94A7141B-B02F-673F-B535-7DD8451BDD8D}"/>
              </a:ext>
            </a:extLst>
          </p:cNvPr>
          <p:cNvSpPr/>
          <p:nvPr/>
        </p:nvSpPr>
        <p:spPr>
          <a:xfrm rot="5400000">
            <a:off x="5756759" y="1384776"/>
            <a:ext cx="536134" cy="251504"/>
          </a:xfrm>
          <a:prstGeom prst="rightArrow">
            <a:avLst>
              <a:gd name="adj1" fmla="val 37130"/>
              <a:gd name="adj2" fmla="val 88610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0C1A7DBA-FFCA-0CC4-AE88-C10038A8A305}"/>
              </a:ext>
            </a:extLst>
          </p:cNvPr>
          <p:cNvSpPr/>
          <p:nvPr/>
        </p:nvSpPr>
        <p:spPr>
          <a:xfrm rot="5400000">
            <a:off x="5756759" y="3003375"/>
            <a:ext cx="536134" cy="251504"/>
          </a:xfrm>
          <a:prstGeom prst="rightArrow">
            <a:avLst>
              <a:gd name="adj1" fmla="val 37130"/>
              <a:gd name="adj2" fmla="val 88610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913A6A95-2A2A-6905-81BB-373F3D26D762}"/>
              </a:ext>
            </a:extLst>
          </p:cNvPr>
          <p:cNvSpPr/>
          <p:nvPr/>
        </p:nvSpPr>
        <p:spPr>
          <a:xfrm rot="5400000">
            <a:off x="5823400" y="4300133"/>
            <a:ext cx="402852" cy="251504"/>
          </a:xfrm>
          <a:prstGeom prst="rightArrow">
            <a:avLst>
              <a:gd name="adj1" fmla="val 37130"/>
              <a:gd name="adj2" fmla="val 88610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83212C91-AEB5-989A-5ABB-72B3541F038D}"/>
              </a:ext>
            </a:extLst>
          </p:cNvPr>
          <p:cNvSpPr/>
          <p:nvPr/>
        </p:nvSpPr>
        <p:spPr>
          <a:xfrm rot="5400000">
            <a:off x="5823400" y="5454856"/>
            <a:ext cx="402852" cy="251504"/>
          </a:xfrm>
          <a:prstGeom prst="rightArrow">
            <a:avLst>
              <a:gd name="adj1" fmla="val 37130"/>
              <a:gd name="adj2" fmla="val 88610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小组">
            <a:extLst>
              <a:ext uri="{FF2B5EF4-FFF2-40B4-BE49-F238E27FC236}">
                <a16:creationId xmlns:a16="http://schemas.microsoft.com/office/drawing/2014/main" id="{A63EDD43-C16B-BFA0-F795-C7F64C1F1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481" y="2889509"/>
            <a:ext cx="762400" cy="428850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58B6B2F-BBF6-C5F0-2051-CAF93ABD4ECD}"/>
              </a:ext>
            </a:extLst>
          </p:cNvPr>
          <p:cNvSpPr/>
          <p:nvPr/>
        </p:nvSpPr>
        <p:spPr>
          <a:xfrm>
            <a:off x="6222382" y="1379318"/>
            <a:ext cx="999357" cy="25642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tx1"/>
                </a:solidFill>
              </a:rPr>
              <a:t>CozeCode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9C8D0E1-0612-4A05-0B0F-CE248D2671B4}"/>
              </a:ext>
            </a:extLst>
          </p:cNvPr>
          <p:cNvSpPr/>
          <p:nvPr/>
        </p:nvSpPr>
        <p:spPr>
          <a:xfrm>
            <a:off x="6246284" y="2956146"/>
            <a:ext cx="999357" cy="25642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Python</a:t>
            </a:r>
          </a:p>
        </p:txBody>
      </p:sp>
      <p:pic>
        <p:nvPicPr>
          <p:cNvPr id="22" name="Graphic 21" descr="Web design outline">
            <a:extLst>
              <a:ext uri="{FF2B5EF4-FFF2-40B4-BE49-F238E27FC236}">
                <a16:creationId xmlns:a16="http://schemas.microsoft.com/office/drawing/2014/main" id="{638388C3-414D-655A-E9AF-9715162DC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57400" y="2596750"/>
            <a:ext cx="559371" cy="55937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5AAA513-2E49-BF92-78EE-0692A955F708}"/>
              </a:ext>
            </a:extLst>
          </p:cNvPr>
          <p:cNvSpPr txBox="1"/>
          <p:nvPr/>
        </p:nvSpPr>
        <p:spPr>
          <a:xfrm>
            <a:off x="3460817" y="3156121"/>
            <a:ext cx="8762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050" dirty="0"/>
              <a:t>终检报告</a:t>
            </a:r>
            <a:endParaRPr lang="en-US" sz="10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2E0568-EDB7-BB6E-4EB0-3E24E760B8E9}"/>
              </a:ext>
            </a:extLst>
          </p:cNvPr>
          <p:cNvSpPr txBox="1"/>
          <p:nvPr/>
        </p:nvSpPr>
        <p:spPr>
          <a:xfrm>
            <a:off x="4316263" y="3162908"/>
            <a:ext cx="5116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/>
              <a:t>输出</a:t>
            </a:r>
            <a:endParaRPr lang="en-US" sz="105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B0BAB25-15AC-D44D-73CE-69BA83A8E668}"/>
              </a:ext>
            </a:extLst>
          </p:cNvPr>
          <p:cNvCxnSpPr>
            <a:cxnSpLocks/>
          </p:cNvCxnSpPr>
          <p:nvPr/>
        </p:nvCxnSpPr>
        <p:spPr>
          <a:xfrm>
            <a:off x="4340546" y="3046755"/>
            <a:ext cx="0" cy="42885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>
            <a:extLst>
              <a:ext uri="{FF2B5EF4-FFF2-40B4-BE49-F238E27FC236}">
                <a16:creationId xmlns:a16="http://schemas.microsoft.com/office/drawing/2014/main" id="{373F0269-AC15-4CD1-209E-AD9E600E85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2564" y="269926"/>
            <a:ext cx="4391638" cy="127652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53010B9E-3865-7C00-1F44-851E5399A6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9441" y="1628907"/>
            <a:ext cx="4962962" cy="1817197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3BC588F2-414C-01AB-C9E4-49BF2176C6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284" y="383521"/>
            <a:ext cx="2647793" cy="2790147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47DB2B3D-8AE3-3817-1559-CFD1DA3AEA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7884" y="3397194"/>
            <a:ext cx="2501456" cy="3458438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AD3D6237-BEA7-E714-AE06-62BD07A0AE14}"/>
              </a:ext>
            </a:extLst>
          </p:cNvPr>
          <p:cNvSpPr/>
          <p:nvPr/>
        </p:nvSpPr>
        <p:spPr>
          <a:xfrm>
            <a:off x="7492184" y="3569892"/>
            <a:ext cx="55831" cy="29545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22B2678-54AD-B5ED-F71B-D73B63A0DEE5}"/>
              </a:ext>
            </a:extLst>
          </p:cNvPr>
          <p:cNvSpPr/>
          <p:nvPr/>
        </p:nvSpPr>
        <p:spPr>
          <a:xfrm>
            <a:off x="3454556" y="401038"/>
            <a:ext cx="55835" cy="281277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EE5977A-BCED-5677-63EB-BA1320AEB38F}"/>
              </a:ext>
            </a:extLst>
          </p:cNvPr>
          <p:cNvSpPr/>
          <p:nvPr/>
        </p:nvSpPr>
        <p:spPr>
          <a:xfrm flipH="1">
            <a:off x="3454557" y="3569892"/>
            <a:ext cx="47720" cy="306591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7468752-27CB-F1D5-CC2B-6C49801982E0}"/>
              </a:ext>
            </a:extLst>
          </p:cNvPr>
          <p:cNvSpPr/>
          <p:nvPr/>
        </p:nvSpPr>
        <p:spPr>
          <a:xfrm>
            <a:off x="7503223" y="269926"/>
            <a:ext cx="55831" cy="12765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3F56F10-FAA9-518A-AF70-8D085BD4E2F1}"/>
              </a:ext>
            </a:extLst>
          </p:cNvPr>
          <p:cNvSpPr/>
          <p:nvPr/>
        </p:nvSpPr>
        <p:spPr>
          <a:xfrm>
            <a:off x="7492184" y="1670242"/>
            <a:ext cx="55831" cy="1726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1E14188D-1BD4-61DD-E6A2-F158EFAED2C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31314" y="3743298"/>
            <a:ext cx="4818342" cy="2892512"/>
          </a:xfrm>
          <a:prstGeom prst="rect">
            <a:avLst/>
          </a:prstGeom>
        </p:spPr>
      </p:pic>
      <p:sp>
        <p:nvSpPr>
          <p:cNvPr id="70" name="Slide Number Placeholder 69">
            <a:extLst>
              <a:ext uri="{FF2B5EF4-FFF2-40B4-BE49-F238E27FC236}">
                <a16:creationId xmlns:a16="http://schemas.microsoft.com/office/drawing/2014/main" id="{4240E442-A7A0-F4F2-E4F3-C9A36DBB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ADA5A-990A-4180-8E3C-C8179AEE668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116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A6F1C58-6F5A-10BA-9C64-B76978DEDA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4252058"/>
              </p:ext>
            </p:extLst>
          </p:nvPr>
        </p:nvGraphicFramePr>
        <p:xfrm>
          <a:off x="454225" y="243573"/>
          <a:ext cx="11408698" cy="6223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3410">
                  <a:extLst>
                    <a:ext uri="{9D8B030D-6E8A-4147-A177-3AD203B41FA5}">
                      <a16:colId xmlns:a16="http://schemas.microsoft.com/office/drawing/2014/main" val="354244948"/>
                    </a:ext>
                  </a:extLst>
                </a:gridCol>
                <a:gridCol w="1508556">
                  <a:extLst>
                    <a:ext uri="{9D8B030D-6E8A-4147-A177-3AD203B41FA5}">
                      <a16:colId xmlns:a16="http://schemas.microsoft.com/office/drawing/2014/main" val="1118597104"/>
                    </a:ext>
                  </a:extLst>
                </a:gridCol>
                <a:gridCol w="839703">
                  <a:extLst>
                    <a:ext uri="{9D8B030D-6E8A-4147-A177-3AD203B41FA5}">
                      <a16:colId xmlns:a16="http://schemas.microsoft.com/office/drawing/2014/main" val="351260627"/>
                    </a:ext>
                  </a:extLst>
                </a:gridCol>
                <a:gridCol w="5049430">
                  <a:extLst>
                    <a:ext uri="{9D8B030D-6E8A-4147-A177-3AD203B41FA5}">
                      <a16:colId xmlns:a16="http://schemas.microsoft.com/office/drawing/2014/main" val="1096080382"/>
                    </a:ext>
                  </a:extLst>
                </a:gridCol>
                <a:gridCol w="3657599">
                  <a:extLst>
                    <a:ext uri="{9D8B030D-6E8A-4147-A177-3AD203B41FA5}">
                      <a16:colId xmlns:a16="http://schemas.microsoft.com/office/drawing/2014/main" val="31600152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序号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开发目标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完成程度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目前难点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完成内容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解决方案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未来开发方向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9717211"/>
                  </a:ext>
                </a:extLst>
              </a:tr>
              <a:tr h="457200">
                <a:tc rowSpan="2"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zh-CN" altLang="en-US" dirty="0"/>
                        <a:t>眼镜扫描获取要检测的设备信息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accent2"/>
                          </a:solidFill>
                        </a:rPr>
                        <a:t>中</a:t>
                      </a:r>
                      <a:endParaRPr lang="en-US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/>
                        <a:t>二维码的保存和生成：目前没有数据库存有所有我们要在二维码中得到的数据，特别是“图纸页码”和“批号”两个信息只能从图纸里人工取得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/>
                        <a:t>新建一个专门存储这些信息的数据库，由工程部提供这两个信息</a:t>
                      </a:r>
                      <a:r>
                        <a:rPr lang="en-US" altLang="zh-CN" sz="1800" dirty="0"/>
                        <a:t>/</a:t>
                      </a:r>
                      <a:r>
                        <a:rPr lang="zh-CN" altLang="en-US" sz="1800" dirty="0"/>
                        <a:t>机器视觉识别图纸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0046230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/>
                        <a:t>扫描二维码：在灵珠平台，眼镜用“相机”方法而非专门扫二维码方法，容易导致二维码没拍全</a:t>
                      </a:r>
                      <a:r>
                        <a:rPr lang="en-US" altLang="zh-CN" sz="1800" dirty="0"/>
                        <a:t>/</a:t>
                      </a:r>
                      <a:r>
                        <a:rPr lang="zh-CN" altLang="en-US" sz="1800" dirty="0"/>
                        <a:t>拍糊而读取失败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/>
                        <a:t>询问厂商是</a:t>
                      </a:r>
                      <a:r>
                        <a:rPr lang="zh-CN" altLang="en-US" sz="1800"/>
                        <a:t>否能在灵珠平台增</a:t>
                      </a:r>
                      <a:r>
                        <a:rPr lang="zh-CN" altLang="en-US" sz="1800" dirty="0"/>
                        <a:t>加该功能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9874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读取项目检测清单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accent2"/>
                          </a:solidFill>
                        </a:rPr>
                        <a:t>中</a:t>
                      </a:r>
                      <a:endParaRPr lang="en-US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/>
                        <a:t>检测内容太笼统：并不是每个模块都需要检测所有在报告里的检测项，目前的解决方法是提供“跳过”选项，最终汇总时标明该模块该项目不检测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/>
                        <a:t>细化检测对象层级，以单模类别作为查询检测项的依据，对每一个类别设定独立的检测项目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994170"/>
                  </a:ext>
                </a:extLst>
              </a:tr>
              <a:tr h="711200">
                <a:tc rowSpan="3"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r>
                        <a:rPr lang="zh-CN" altLang="en-US" dirty="0"/>
                        <a:t>在眼镜上显示检测项并接收用户反馈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FFC000"/>
                          </a:solidFill>
                        </a:rPr>
                        <a:t>中低</a:t>
                      </a:r>
                      <a:endParaRPr lang="en-US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用户界面</a:t>
                      </a:r>
                      <a:r>
                        <a:rPr lang="en-US" altLang="zh-CN" dirty="0"/>
                        <a:t>UI</a:t>
                      </a:r>
                      <a:r>
                        <a:rPr lang="zh-CN" altLang="en-US" dirty="0"/>
                        <a:t>待优化：目前以对话流方式显示检测项和选项，不是一个太合适的交互形式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设计卡片形式的</a:t>
                      </a:r>
                      <a:r>
                        <a:rPr lang="en-US" altLang="zh-CN" dirty="0"/>
                        <a:t>UI</a:t>
                      </a:r>
                      <a:r>
                        <a:rPr lang="zh-CN" altLang="en-US" dirty="0"/>
                        <a:t>，更加突出检测内容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5445615"/>
                  </a:ext>
                </a:extLst>
              </a:tr>
              <a:tr h="1259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/>
                        <a:t>检测过程太长，如果不慎退出重进则需要重新开始前面的检测项目，而且会在数据库里重复保存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/>
                        <a:t>尽可能避免误触</a:t>
                      </a:r>
                      <a:r>
                        <a:rPr lang="en-US" altLang="zh-CN" sz="1800" dirty="0"/>
                        <a:t>/</a:t>
                      </a:r>
                      <a:r>
                        <a:rPr lang="zh-CN" altLang="en-US" sz="1800" dirty="0"/>
                        <a:t>在退出时增加再次确认的逻辑</a:t>
                      </a:r>
                      <a:r>
                        <a:rPr lang="en-US" altLang="zh-CN" sz="1800" dirty="0"/>
                        <a:t>/</a:t>
                      </a:r>
                      <a:r>
                        <a:rPr lang="zh-CN" altLang="en-US" sz="1800" dirty="0"/>
                        <a:t>在进入检测时检查之前是否有记录，跳至最后记录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7543719"/>
                  </a:ext>
                </a:extLst>
              </a:tr>
              <a:tr h="5943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/>
                        <a:t>语音识别容易误识别，最后要手动在报告里修改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/>
                        <a:t>人工修改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6676955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E52FFF-FF6F-FB06-BCAE-DCFFF1488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ADA5A-990A-4180-8E3C-C8179AEE668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082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68C3CA5-A9C3-F79E-BFFA-B0DF4C1D23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429740"/>
              </p:ext>
            </p:extLst>
          </p:nvPr>
        </p:nvGraphicFramePr>
        <p:xfrm>
          <a:off x="391651" y="136525"/>
          <a:ext cx="11408698" cy="640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3410">
                  <a:extLst>
                    <a:ext uri="{9D8B030D-6E8A-4147-A177-3AD203B41FA5}">
                      <a16:colId xmlns:a16="http://schemas.microsoft.com/office/drawing/2014/main" val="354244948"/>
                    </a:ext>
                  </a:extLst>
                </a:gridCol>
                <a:gridCol w="1508556">
                  <a:extLst>
                    <a:ext uri="{9D8B030D-6E8A-4147-A177-3AD203B41FA5}">
                      <a16:colId xmlns:a16="http://schemas.microsoft.com/office/drawing/2014/main" val="1118597104"/>
                    </a:ext>
                  </a:extLst>
                </a:gridCol>
                <a:gridCol w="839703">
                  <a:extLst>
                    <a:ext uri="{9D8B030D-6E8A-4147-A177-3AD203B41FA5}">
                      <a16:colId xmlns:a16="http://schemas.microsoft.com/office/drawing/2014/main" val="351260627"/>
                    </a:ext>
                  </a:extLst>
                </a:gridCol>
                <a:gridCol w="5049430">
                  <a:extLst>
                    <a:ext uri="{9D8B030D-6E8A-4147-A177-3AD203B41FA5}">
                      <a16:colId xmlns:a16="http://schemas.microsoft.com/office/drawing/2014/main" val="1096080382"/>
                    </a:ext>
                  </a:extLst>
                </a:gridCol>
                <a:gridCol w="3657599">
                  <a:extLst>
                    <a:ext uri="{9D8B030D-6E8A-4147-A177-3AD203B41FA5}">
                      <a16:colId xmlns:a16="http://schemas.microsoft.com/office/drawing/2014/main" val="31600152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序号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开发目标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完成程度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目前难点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完成内容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解决方案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未来开发方向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9717211"/>
                  </a:ext>
                </a:extLst>
              </a:tr>
              <a:tr h="914400">
                <a:tc rowSpan="3"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r>
                        <a:rPr lang="zh-CN" altLang="en-US" dirty="0"/>
                        <a:t>依据检测结果出具终检报告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accent2"/>
                          </a:solidFill>
                        </a:rPr>
                        <a:t>中</a:t>
                      </a:r>
                      <a:endParaRPr lang="en-US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/>
                        <a:t>通过</a:t>
                      </a:r>
                      <a:r>
                        <a:rPr lang="en-US" altLang="zh-CN" sz="1800" dirty="0"/>
                        <a:t>Python</a:t>
                      </a:r>
                      <a:r>
                        <a:rPr lang="zh-CN" altLang="en-US" sz="1800" dirty="0"/>
                        <a:t>将数据填入报告模板，并且在备注栏标注检测结果，但是只能保存检测当时的情况，后续的整改（从</a:t>
                      </a:r>
                      <a:r>
                        <a:rPr lang="en-US" altLang="zh-CN" sz="1800" dirty="0"/>
                        <a:t>NOK</a:t>
                      </a:r>
                      <a:r>
                        <a:rPr lang="zh-CN" altLang="en-US" sz="1800" dirty="0"/>
                        <a:t>改到</a:t>
                      </a:r>
                      <a:r>
                        <a:rPr lang="en-US" altLang="zh-CN" sz="1800" dirty="0"/>
                        <a:t>OK</a:t>
                      </a:r>
                      <a:r>
                        <a:rPr lang="zh-CN" altLang="en-US" sz="1800" dirty="0"/>
                        <a:t>）都需要手动调整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/>
                        <a:t>加入新的“跟进检测结果”工作流，可以保留问题跟进的过程，结果，负责部门等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0046230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/>
                        <a:t>原来的报告只需要写包含“</a:t>
                      </a:r>
                      <a:r>
                        <a:rPr lang="en-US" altLang="zh-CN" sz="1800" dirty="0"/>
                        <a:t>Q</a:t>
                      </a:r>
                      <a:r>
                        <a:rPr lang="zh-CN" altLang="en-US" sz="1800" dirty="0"/>
                        <a:t>”的模块，但检测时通管（“</a:t>
                      </a:r>
                      <a:r>
                        <a:rPr lang="en-US" altLang="zh-CN" sz="1800" dirty="0"/>
                        <a:t>W</a:t>
                      </a:r>
                      <a:r>
                        <a:rPr lang="zh-CN" altLang="en-US" sz="1800" dirty="0"/>
                        <a:t>”）其实也需要检查，目前是将所有模块都写在报告中了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如有必要可以只保留含“</a:t>
                      </a:r>
                      <a:r>
                        <a:rPr lang="en-US" altLang="zh-CN" sz="1800" dirty="0"/>
                        <a:t>Q</a:t>
                      </a:r>
                      <a:r>
                        <a:rPr lang="zh-CN" altLang="en-US" sz="1800" dirty="0"/>
                        <a:t>”的模块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628344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/>
                        <a:t>这份报告会作为“终检合格报告”还是“问题汇总报告”，前者的话其实所有检测结果都是合格后才会出具，后者的话则可以不展示合格的项目。目前的报告介于两者中间，作用有点模糊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待讨论</a:t>
                      </a:r>
                      <a:endParaRPr lang="en-US" altLang="zh-CN" dirty="0"/>
                    </a:p>
                    <a:p>
                      <a:r>
                        <a:rPr lang="zh-CN" altLang="en-US" dirty="0"/>
                        <a:t>也可以以这份报告的数据为基础，用于生成其他报告，见“</a:t>
                      </a:r>
                      <a:r>
                        <a:rPr lang="en-US" altLang="zh-CN" dirty="0"/>
                        <a:t>7 </a:t>
                      </a:r>
                      <a:r>
                        <a:rPr lang="zh-CN" altLang="en-US" dirty="0"/>
                        <a:t>配合完成其他质量报告的生成”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7717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符合公司数据安全及合规要求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70C0"/>
                          </a:solidFill>
                        </a:rPr>
                        <a:t>尚未开始</a:t>
                      </a:r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/>
                        <a:t>用了两个外部</a:t>
                      </a:r>
                      <a:r>
                        <a:rPr lang="en-US" altLang="zh-CN" sz="1800" dirty="0"/>
                        <a:t>API</a:t>
                      </a:r>
                      <a:r>
                        <a:rPr lang="zh-CN" altLang="en-US" sz="1800" dirty="0"/>
                        <a:t>（</a:t>
                      </a:r>
                      <a:r>
                        <a:rPr lang="en-US" altLang="zh-CN" sz="1800" dirty="0"/>
                        <a:t>1 </a:t>
                      </a:r>
                      <a:r>
                        <a:rPr lang="zh-CN" altLang="en-US" sz="1800" dirty="0"/>
                        <a:t>用于传输二维码照片和解码的信息，</a:t>
                      </a:r>
                      <a:r>
                        <a:rPr lang="en-US" altLang="zh-CN" sz="1800" dirty="0"/>
                        <a:t>2 </a:t>
                      </a:r>
                      <a:r>
                        <a:rPr lang="zh-CN" altLang="en-US" sz="1800" dirty="0"/>
                        <a:t>用于传输检测结果生成报告）。以及目前所用数据库都存在厂商提供的数据库平台中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/>
                        <a:t>根据信息重要程度，接入公司内部数据库</a:t>
                      </a:r>
                      <a:r>
                        <a:rPr lang="en-US" altLang="zh-CN" sz="1800" dirty="0"/>
                        <a:t>/</a:t>
                      </a:r>
                      <a:r>
                        <a:rPr lang="zh-CN" altLang="en-US" sz="1800" dirty="0"/>
                        <a:t>云数据库</a:t>
                      </a:r>
                      <a:r>
                        <a:rPr lang="en-US" altLang="zh-CN" sz="1800" dirty="0"/>
                        <a:t>/</a:t>
                      </a:r>
                      <a:r>
                        <a:rPr lang="zh-CN" altLang="en-US" sz="1800" dirty="0"/>
                        <a:t>保留在厂商数据库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994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拍照记录检测过程并保存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70C0"/>
                          </a:solidFill>
                        </a:rPr>
                        <a:t>尚未开始</a:t>
                      </a:r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眼镜拍照像素不高</a:t>
                      </a:r>
                      <a:endParaRPr lang="en-US" altLang="zh-CN" dirty="0"/>
                    </a:p>
                    <a:p>
                      <a:r>
                        <a:rPr lang="zh-CN" altLang="en-US" dirty="0"/>
                        <a:t>传到手机上可实现，直接传到电脑上还待开发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加上保存照片到电脑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公盘的工作流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1827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配合完成其他质量报告的生成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0070C0"/>
                          </a:solidFill>
                        </a:rPr>
                        <a:t>尚未开始</a:t>
                      </a:r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可以生成“月度质量问题报告”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516353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BE37AE-008F-4FBC-7817-D9A902ACB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ADA5A-990A-4180-8E3C-C8179AEE668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309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39E86A-03E4-B6D4-102E-3D98BDEE453D}"/>
              </a:ext>
            </a:extLst>
          </p:cNvPr>
          <p:cNvSpPr txBox="1"/>
          <p:nvPr/>
        </p:nvSpPr>
        <p:spPr>
          <a:xfrm>
            <a:off x="621499" y="536132"/>
            <a:ext cx="414860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灵珠：</a:t>
            </a:r>
            <a:r>
              <a:rPr lang="en-US" altLang="zh-CN" sz="1200" dirty="0">
                <a:hlinkClick r:id="rId2"/>
              </a:rPr>
              <a:t>https://rizon.rokid.com/space/home</a:t>
            </a:r>
            <a:endParaRPr lang="en-US" altLang="zh-CN" sz="1200" dirty="0"/>
          </a:p>
          <a:p>
            <a:endParaRPr lang="en-US" altLang="zh-CN" dirty="0"/>
          </a:p>
          <a:p>
            <a:pPr marL="285750" indent="-285750">
              <a:buFontTx/>
              <a:buChar char="-"/>
            </a:pPr>
            <a:r>
              <a:rPr lang="zh-CN" altLang="en-US" dirty="0"/>
              <a:t>用于搭建眼镜工作流，该工作流最后可以放进智能体</a:t>
            </a:r>
            <a:endParaRPr lang="en-US" altLang="zh-CN" dirty="0"/>
          </a:p>
          <a:p>
            <a:pPr marL="285750" indent="-285750">
              <a:buFontTx/>
              <a:buChar char="-"/>
            </a:pPr>
            <a:r>
              <a:rPr lang="zh-CN" altLang="en-US" dirty="0"/>
              <a:t>智能体是一种可以接入</a:t>
            </a:r>
            <a:r>
              <a:rPr lang="en-US" altLang="zh-CN" dirty="0"/>
              <a:t>AI</a:t>
            </a:r>
            <a:r>
              <a:rPr lang="zh-CN" altLang="en-US" dirty="0"/>
              <a:t>交互的应用，也可以理解为最后眼镜执行的程序</a:t>
            </a:r>
            <a:endParaRPr lang="en-US" altLang="zh-CN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zh-CN" altLang="en-US" dirty="0"/>
              <a:t>用到的功能：</a:t>
            </a:r>
            <a:endParaRPr lang="en-US" altLang="zh-CN" dirty="0"/>
          </a:p>
          <a:p>
            <a:pPr marL="285750" indent="-285750">
              <a:buFontTx/>
              <a:buChar char="-"/>
            </a:pPr>
            <a:r>
              <a:rPr lang="zh-CN" altLang="en-US" dirty="0"/>
              <a:t>工作流：调用眼镜的相机和语音识别功能，以及工作流程中的各个模块（问答，循环，存储数据库等）</a:t>
            </a:r>
            <a:endParaRPr lang="en-US" altLang="zh-CN" dirty="0"/>
          </a:p>
          <a:p>
            <a:pPr marL="285750" indent="-285750">
              <a:buFontTx/>
              <a:buChar char="-"/>
            </a:pPr>
            <a:r>
              <a:rPr lang="zh-CN" altLang="en-US" dirty="0"/>
              <a:t>插件：结合</a:t>
            </a:r>
            <a:r>
              <a:rPr lang="en-US" altLang="zh-CN" dirty="0"/>
              <a:t>API</a:t>
            </a:r>
            <a:r>
              <a:rPr lang="zh-CN" altLang="en-US" dirty="0"/>
              <a:t>，提升智能体的能力边界（补充工作流里没有的模块）</a:t>
            </a:r>
            <a:endParaRPr lang="en-US" altLang="zh-CN" dirty="0"/>
          </a:p>
          <a:p>
            <a:pPr marL="285750" indent="-285750">
              <a:buFontTx/>
              <a:buChar char="-"/>
            </a:pPr>
            <a:r>
              <a:rPr lang="zh-CN" altLang="en-US" dirty="0"/>
              <a:t>数据库：结构化存储工作流里产生的数据，最后被导出作为报告的数据依据</a:t>
            </a:r>
            <a:endParaRPr lang="en-US" altLang="zh-CN" dirty="0"/>
          </a:p>
          <a:p>
            <a:pPr marL="285750" indent="-285750">
              <a:buFontTx/>
              <a:buChar char="-"/>
            </a:pPr>
            <a:r>
              <a:rPr lang="zh-CN" altLang="en-US" dirty="0"/>
              <a:t>智能体：这个项目里只用来当一个工作流开始的接口，但其实还可以接入</a:t>
            </a:r>
            <a:r>
              <a:rPr lang="en-US" altLang="zh-CN" dirty="0"/>
              <a:t>AI</a:t>
            </a:r>
            <a:r>
              <a:rPr lang="zh-CN" altLang="en-US" dirty="0"/>
              <a:t>实现更多功能</a:t>
            </a:r>
            <a:endParaRPr lang="en-US" altLang="zh-CN" dirty="0"/>
          </a:p>
          <a:p>
            <a:pPr marL="285750" indent="-285750">
              <a:buFontTx/>
              <a:buChar char="-"/>
            </a:pPr>
            <a:r>
              <a:rPr lang="zh-CN" altLang="en-US" dirty="0"/>
              <a:t>配合手机上的</a:t>
            </a:r>
            <a:r>
              <a:rPr lang="en-US" altLang="zh-CN" dirty="0" err="1"/>
              <a:t>Rokid</a:t>
            </a:r>
            <a:r>
              <a:rPr lang="en-US" altLang="zh-CN" dirty="0"/>
              <a:t> AI App</a:t>
            </a:r>
            <a:r>
              <a:rPr lang="zh-CN" altLang="en-US" dirty="0"/>
              <a:t>可以连接眼镜</a:t>
            </a:r>
            <a:r>
              <a:rPr lang="en-US" altLang="zh-CN" dirty="0"/>
              <a:t>+</a:t>
            </a:r>
            <a:r>
              <a:rPr lang="zh-CN" altLang="en-US" dirty="0"/>
              <a:t>调试</a:t>
            </a:r>
            <a:r>
              <a:rPr lang="en-US" altLang="zh-CN" dirty="0"/>
              <a:t>+</a:t>
            </a:r>
            <a:r>
              <a:rPr lang="zh-CN" altLang="en-US" dirty="0"/>
              <a:t>传图片</a:t>
            </a:r>
            <a:endParaRPr lang="en-US" altLang="zh-CN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7B11F7-C301-4030-8C06-D02F6CB37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7129" y="580445"/>
            <a:ext cx="7080504" cy="26728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0E3CAA-52D2-0B03-40AC-4263FCFC3B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1245" y="3604683"/>
            <a:ext cx="5740841" cy="30465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DF5DBF-078D-632A-8253-BB0861A5BB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0914" y="3429000"/>
            <a:ext cx="1966282" cy="32934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8E4F24-932B-A0D4-568D-059D2E0EC3E1}"/>
              </a:ext>
            </a:extLst>
          </p:cNvPr>
          <p:cNvSpPr txBox="1"/>
          <p:nvPr/>
        </p:nvSpPr>
        <p:spPr>
          <a:xfrm>
            <a:off x="1650774" y="211113"/>
            <a:ext cx="2411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使用前需要实名认证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36049C6-5D31-530C-2873-1A53BD1AA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ADA5A-990A-4180-8E3C-C8179AEE668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243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C467CB-CBFC-2BD1-8C86-3B32280AE5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958" r="16395" b="31066"/>
          <a:stretch>
            <a:fillRect/>
          </a:stretch>
        </p:blipFill>
        <p:spPr>
          <a:xfrm>
            <a:off x="228304" y="180554"/>
            <a:ext cx="11280808" cy="17284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D04524-EF5A-629C-4365-62B00C3BA9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549" b="21148"/>
          <a:stretch>
            <a:fillRect/>
          </a:stretch>
        </p:blipFill>
        <p:spPr>
          <a:xfrm>
            <a:off x="64509" y="2020643"/>
            <a:ext cx="6252033" cy="9123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2403FB-46C4-E51D-2408-9BB5C4E518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107"/>
          <a:stretch>
            <a:fillRect/>
          </a:stretch>
        </p:blipFill>
        <p:spPr>
          <a:xfrm>
            <a:off x="1124566" y="3825013"/>
            <a:ext cx="10956843" cy="28962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E57799-14A9-F7CD-006C-3D6BB060891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2111" b="16706"/>
          <a:stretch>
            <a:fillRect/>
          </a:stretch>
        </p:blipFill>
        <p:spPr>
          <a:xfrm>
            <a:off x="4878728" y="2924518"/>
            <a:ext cx="7313272" cy="849665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1F937F2-1893-CB04-AD7A-2E5AAE051DD2}"/>
              </a:ext>
            </a:extLst>
          </p:cNvPr>
          <p:cNvSpPr/>
          <p:nvPr/>
        </p:nvSpPr>
        <p:spPr>
          <a:xfrm>
            <a:off x="4278313" y="2395242"/>
            <a:ext cx="2619873" cy="950466"/>
          </a:xfrm>
          <a:custGeom>
            <a:avLst/>
            <a:gdLst>
              <a:gd name="csX0" fmla="*/ 2033475 w 2619873"/>
              <a:gd name="csY0" fmla="*/ 0 h 950466"/>
              <a:gd name="csX1" fmla="*/ 2502813 w 2619873"/>
              <a:gd name="csY1" fmla="*/ 275130 h 950466"/>
              <a:gd name="csX2" fmla="*/ 115662 w 2619873"/>
              <a:gd name="csY2" fmla="*/ 849664 h 950466"/>
              <a:gd name="csX3" fmla="*/ 593092 w 2619873"/>
              <a:gd name="csY3" fmla="*/ 946769 h 9504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619873" h="950466">
                <a:moveTo>
                  <a:pt x="2033475" y="0"/>
                </a:moveTo>
                <a:cubicBezTo>
                  <a:pt x="2427962" y="66759"/>
                  <a:pt x="2822449" y="133519"/>
                  <a:pt x="2502813" y="275130"/>
                </a:cubicBezTo>
                <a:cubicBezTo>
                  <a:pt x="2183177" y="416741"/>
                  <a:pt x="433949" y="737724"/>
                  <a:pt x="115662" y="849664"/>
                </a:cubicBezTo>
                <a:cubicBezTo>
                  <a:pt x="-202625" y="961604"/>
                  <a:pt x="195233" y="954186"/>
                  <a:pt x="593092" y="94676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84779AC-D2EA-224D-E39B-7661D137C7A6}"/>
              </a:ext>
            </a:extLst>
          </p:cNvPr>
          <p:cNvCxnSpPr/>
          <p:nvPr/>
        </p:nvCxnSpPr>
        <p:spPr>
          <a:xfrm>
            <a:off x="11620901" y="1440382"/>
            <a:ext cx="5710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5A57D50-A9CE-20AE-2DC3-711BEFE8C592}"/>
              </a:ext>
            </a:extLst>
          </p:cNvPr>
          <p:cNvSpPr/>
          <p:nvPr/>
        </p:nvSpPr>
        <p:spPr>
          <a:xfrm>
            <a:off x="215458" y="2621819"/>
            <a:ext cx="3045632" cy="2847480"/>
          </a:xfrm>
          <a:custGeom>
            <a:avLst/>
            <a:gdLst>
              <a:gd name="csX0" fmla="*/ 3045632 w 3045632"/>
              <a:gd name="csY0" fmla="*/ 0 h 2847480"/>
              <a:gd name="csX1" fmla="*/ 108223 w 3045632"/>
              <a:gd name="csY1" fmla="*/ 2476163 h 2847480"/>
              <a:gd name="csX2" fmla="*/ 917427 w 3045632"/>
              <a:gd name="csY2" fmla="*/ 2791753 h 28474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045632" h="2847480">
                <a:moveTo>
                  <a:pt x="3045632" y="0"/>
                </a:moveTo>
                <a:cubicBezTo>
                  <a:pt x="1754278" y="1005435"/>
                  <a:pt x="462924" y="2010871"/>
                  <a:pt x="108223" y="2476163"/>
                </a:cubicBezTo>
                <a:cubicBezTo>
                  <a:pt x="-246478" y="2941455"/>
                  <a:pt x="335474" y="2866604"/>
                  <a:pt x="917427" y="2791753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5DA46A73-866E-9E49-1DC9-7F46E229C5A0}"/>
              </a:ext>
            </a:extLst>
          </p:cNvPr>
          <p:cNvSpPr/>
          <p:nvPr/>
        </p:nvSpPr>
        <p:spPr>
          <a:xfrm>
            <a:off x="2699135" y="2621819"/>
            <a:ext cx="9877791" cy="2783661"/>
          </a:xfrm>
          <a:custGeom>
            <a:avLst/>
            <a:gdLst>
              <a:gd name="csX0" fmla="*/ 9333722 w 9877791"/>
              <a:gd name="csY0" fmla="*/ 2783661 h 2783661"/>
              <a:gd name="csX1" fmla="*/ 8945304 w 9877791"/>
              <a:gd name="csY1" fmla="*/ 1772156 h 2783661"/>
              <a:gd name="csX2" fmla="*/ 691428 w 9877791"/>
              <a:gd name="csY2" fmla="*/ 1173346 h 2783661"/>
              <a:gd name="csX3" fmla="*/ 529587 w 9877791"/>
              <a:gd name="csY3" fmla="*/ 0 h 27836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877791" h="2783661">
                <a:moveTo>
                  <a:pt x="9333722" y="2783661"/>
                </a:moveTo>
                <a:cubicBezTo>
                  <a:pt x="9859704" y="2412101"/>
                  <a:pt x="10385686" y="2040542"/>
                  <a:pt x="8945304" y="1772156"/>
                </a:cubicBezTo>
                <a:cubicBezTo>
                  <a:pt x="7504922" y="1503770"/>
                  <a:pt x="2094047" y="1468705"/>
                  <a:pt x="691428" y="1173346"/>
                </a:cubicBezTo>
                <a:cubicBezTo>
                  <a:pt x="-711191" y="877987"/>
                  <a:pt x="439226" y="169933"/>
                  <a:pt x="529587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EE70744-90DA-1ABE-47F1-0CDA7307AFAC}"/>
              </a:ext>
            </a:extLst>
          </p:cNvPr>
          <p:cNvSpPr/>
          <p:nvPr/>
        </p:nvSpPr>
        <p:spPr>
          <a:xfrm>
            <a:off x="215458" y="655455"/>
            <a:ext cx="2098864" cy="73324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50320-9CAF-D310-20FA-BD3594A34788}"/>
              </a:ext>
            </a:extLst>
          </p:cNvPr>
          <p:cNvSpPr/>
          <p:nvPr/>
        </p:nvSpPr>
        <p:spPr>
          <a:xfrm>
            <a:off x="10268793" y="2852115"/>
            <a:ext cx="1858698" cy="73324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DDF3F7C-AE47-39DE-6121-9F3306639790}"/>
              </a:ext>
            </a:extLst>
          </p:cNvPr>
          <p:cNvSpPr/>
          <p:nvPr/>
        </p:nvSpPr>
        <p:spPr>
          <a:xfrm>
            <a:off x="4878728" y="772965"/>
            <a:ext cx="1480150" cy="3745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dirty="0">
                <a:solidFill>
                  <a:schemeClr val="accent2"/>
                </a:solidFill>
              </a:rPr>
              <a:t>1 </a:t>
            </a:r>
            <a:r>
              <a:rPr lang="zh-CN" altLang="en-US" sz="1200" dirty="0">
                <a:solidFill>
                  <a:schemeClr val="accent2"/>
                </a:solidFill>
              </a:rPr>
              <a:t>扫描唛头二维码</a:t>
            </a:r>
            <a:endParaRPr lang="en-US" sz="1200" dirty="0">
              <a:solidFill>
                <a:schemeClr val="accent2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877B204-9DC1-0E81-78AC-846E9A6E9C81}"/>
              </a:ext>
            </a:extLst>
          </p:cNvPr>
          <p:cNvSpPr/>
          <p:nvPr/>
        </p:nvSpPr>
        <p:spPr>
          <a:xfrm>
            <a:off x="8413598" y="655455"/>
            <a:ext cx="1480150" cy="3745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dirty="0">
                <a:solidFill>
                  <a:schemeClr val="accent2"/>
                </a:solidFill>
              </a:rPr>
              <a:t>2 </a:t>
            </a:r>
            <a:r>
              <a:rPr lang="zh-CN" altLang="en-US" sz="1200" dirty="0">
                <a:solidFill>
                  <a:schemeClr val="accent2"/>
                </a:solidFill>
              </a:rPr>
              <a:t>读取项目信息</a:t>
            </a:r>
            <a:endParaRPr lang="en-US" sz="1200" dirty="0">
              <a:solidFill>
                <a:schemeClr val="accent2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2DAB275-F39F-84BE-38B9-2F61CDB08594}"/>
              </a:ext>
            </a:extLst>
          </p:cNvPr>
          <p:cNvSpPr/>
          <p:nvPr/>
        </p:nvSpPr>
        <p:spPr>
          <a:xfrm>
            <a:off x="228304" y="2745698"/>
            <a:ext cx="1624772" cy="3745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dirty="0">
                <a:solidFill>
                  <a:schemeClr val="accent2"/>
                </a:solidFill>
              </a:rPr>
              <a:t>3 </a:t>
            </a:r>
            <a:r>
              <a:rPr lang="zh-CN" altLang="en-US" sz="1200" dirty="0">
                <a:solidFill>
                  <a:schemeClr val="accent2"/>
                </a:solidFill>
              </a:rPr>
              <a:t>读取项目检测清单</a:t>
            </a:r>
            <a:endParaRPr lang="en-US" sz="1200" dirty="0">
              <a:solidFill>
                <a:schemeClr val="accent2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6963F09-DE5C-5D7F-6D2E-A3E3BD1C8F74}"/>
              </a:ext>
            </a:extLst>
          </p:cNvPr>
          <p:cNvSpPr/>
          <p:nvPr/>
        </p:nvSpPr>
        <p:spPr>
          <a:xfrm>
            <a:off x="1264890" y="6015245"/>
            <a:ext cx="1624772" cy="3745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dirty="0">
                <a:solidFill>
                  <a:schemeClr val="accent2"/>
                </a:solidFill>
              </a:rPr>
              <a:t>4 </a:t>
            </a:r>
            <a:r>
              <a:rPr lang="zh-CN" altLang="en-US" sz="1200" dirty="0">
                <a:solidFill>
                  <a:schemeClr val="accent2"/>
                </a:solidFill>
              </a:rPr>
              <a:t>逐条输出检测项目</a:t>
            </a:r>
            <a:endParaRPr lang="en-US" sz="1200" dirty="0">
              <a:solidFill>
                <a:schemeClr val="accent2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97470F9-47A0-DB62-165F-A4D938D04A41}"/>
              </a:ext>
            </a:extLst>
          </p:cNvPr>
          <p:cNvSpPr/>
          <p:nvPr/>
        </p:nvSpPr>
        <p:spPr>
          <a:xfrm>
            <a:off x="7722978" y="5884785"/>
            <a:ext cx="1624772" cy="3745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dirty="0">
                <a:solidFill>
                  <a:schemeClr val="accent2"/>
                </a:solidFill>
              </a:rPr>
              <a:t>5 </a:t>
            </a:r>
            <a:r>
              <a:rPr lang="zh-CN" altLang="en-US" sz="1200" dirty="0">
                <a:solidFill>
                  <a:schemeClr val="accent2"/>
                </a:solidFill>
              </a:rPr>
              <a:t>用户输入检测结果</a:t>
            </a:r>
            <a:endParaRPr lang="en-US" sz="1200" dirty="0">
              <a:solidFill>
                <a:schemeClr val="accent2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A573F97-6756-CDD5-D6E5-40BFF387DCC3}"/>
              </a:ext>
            </a:extLst>
          </p:cNvPr>
          <p:cNvSpPr/>
          <p:nvPr/>
        </p:nvSpPr>
        <p:spPr>
          <a:xfrm>
            <a:off x="9777007" y="5876092"/>
            <a:ext cx="1624772" cy="3745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dirty="0">
                <a:solidFill>
                  <a:schemeClr val="accent2"/>
                </a:solidFill>
              </a:rPr>
              <a:t>6 </a:t>
            </a:r>
            <a:r>
              <a:rPr lang="zh-CN" altLang="en-US" sz="1200" dirty="0">
                <a:solidFill>
                  <a:schemeClr val="accent2"/>
                </a:solidFill>
              </a:rPr>
              <a:t>记录检测结果</a:t>
            </a:r>
            <a:endParaRPr lang="en-US" sz="1200" dirty="0">
              <a:solidFill>
                <a:schemeClr val="accent2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4116A8A-84C2-37B7-FA14-7F849CC83C7E}"/>
              </a:ext>
            </a:extLst>
          </p:cNvPr>
          <p:cNvSpPr/>
          <p:nvPr/>
        </p:nvSpPr>
        <p:spPr>
          <a:xfrm>
            <a:off x="9717960" y="2266606"/>
            <a:ext cx="1624772" cy="3745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dirty="0">
                <a:solidFill>
                  <a:schemeClr val="accent2"/>
                </a:solidFill>
              </a:rPr>
              <a:t>7 </a:t>
            </a:r>
            <a:r>
              <a:rPr lang="zh-CN" altLang="en-US" sz="1200" dirty="0">
                <a:solidFill>
                  <a:schemeClr val="accent2"/>
                </a:solidFill>
              </a:rPr>
              <a:t>导出该间隔数据</a:t>
            </a:r>
            <a:endParaRPr lang="en-US" sz="1200" dirty="0">
              <a:solidFill>
                <a:schemeClr val="accent2"/>
              </a:solidFill>
            </a:endParaRPr>
          </a:p>
        </p:txBody>
      </p:sp>
      <p:sp>
        <p:nvSpPr>
          <p:cNvPr id="42" name="Slide Number Placeholder 41">
            <a:extLst>
              <a:ext uri="{FF2B5EF4-FFF2-40B4-BE49-F238E27FC236}">
                <a16:creationId xmlns:a16="http://schemas.microsoft.com/office/drawing/2014/main" id="{F71A72D4-5315-104E-A380-FBAFF1D42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ADA5A-990A-4180-8E3C-C8179AEE668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032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EB90EA-E7A2-C637-A26F-AF81A9598548}"/>
              </a:ext>
            </a:extLst>
          </p:cNvPr>
          <p:cNvSpPr txBox="1"/>
          <p:nvPr/>
        </p:nvSpPr>
        <p:spPr>
          <a:xfrm>
            <a:off x="534074" y="598811"/>
            <a:ext cx="335010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扣子编程 </a:t>
            </a:r>
            <a:r>
              <a:rPr lang="en-US" altLang="zh-CN" dirty="0" err="1"/>
              <a:t>Coze</a:t>
            </a:r>
            <a:r>
              <a:rPr lang="en-US" altLang="zh-CN" dirty="0"/>
              <a:t> Code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en-US" altLang="zh-CN" sz="1200" dirty="0">
                <a:hlinkClick r:id="rId3"/>
              </a:rPr>
              <a:t>https://code.coze.cn/home</a:t>
            </a:r>
            <a:endParaRPr lang="en-US" altLang="zh-CN" sz="1200" dirty="0"/>
          </a:p>
          <a:p>
            <a:endParaRPr lang="en-US" altLang="zh-CN" dirty="0"/>
          </a:p>
          <a:p>
            <a:pPr marL="285750" indent="-285750">
              <a:buFontTx/>
              <a:buChar char="-"/>
            </a:pPr>
            <a:r>
              <a:rPr lang="zh-CN" altLang="en-US" dirty="0"/>
              <a:t>通过与</a:t>
            </a:r>
            <a:r>
              <a:rPr lang="en-US" altLang="zh-CN" dirty="0"/>
              <a:t>AI</a:t>
            </a:r>
            <a:r>
              <a:rPr lang="zh-CN" altLang="en-US" dirty="0"/>
              <a:t>对话直接完成应用</a:t>
            </a:r>
            <a:r>
              <a:rPr lang="en-US" altLang="zh-CN" dirty="0"/>
              <a:t>/</a:t>
            </a:r>
            <a:r>
              <a:rPr lang="zh-CN" altLang="en-US" dirty="0"/>
              <a:t>工作流的开发平台</a:t>
            </a:r>
            <a:endParaRPr lang="en-US" altLang="zh-CN" dirty="0"/>
          </a:p>
          <a:p>
            <a:pPr marL="285750" indent="-285750">
              <a:buFontTx/>
              <a:buChar char="-"/>
            </a:pPr>
            <a:r>
              <a:rPr lang="zh-CN" altLang="en-US" dirty="0"/>
              <a:t>在该平台中开发的工作流可以通过</a:t>
            </a:r>
            <a:r>
              <a:rPr lang="en-US" altLang="zh-CN" dirty="0"/>
              <a:t>API</a:t>
            </a:r>
            <a:r>
              <a:rPr lang="zh-CN" altLang="en-US" dirty="0"/>
              <a:t>集成到眼镜的灵珠平台工作流中（作为“插件”）</a:t>
            </a:r>
            <a:endParaRPr lang="en-US" altLang="zh-CN" dirty="0"/>
          </a:p>
          <a:p>
            <a:pPr marL="285750" indent="-285750">
              <a:buFontTx/>
              <a:buChar char="-"/>
            </a:pPr>
            <a:r>
              <a:rPr lang="zh-CN" altLang="en-US" dirty="0"/>
              <a:t>可以实现复杂的工作流</a:t>
            </a:r>
            <a:endParaRPr lang="en-US" altLang="zh-CN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zh-CN" altLang="en-US" dirty="0"/>
              <a:t>用到的功能：</a:t>
            </a:r>
            <a:endParaRPr lang="en-US" altLang="zh-CN" dirty="0"/>
          </a:p>
          <a:p>
            <a:pPr marL="285750" indent="-285750">
              <a:buFontTx/>
              <a:buChar char="-"/>
            </a:pPr>
            <a:r>
              <a:rPr lang="zh-CN" altLang="en-US" dirty="0"/>
              <a:t>开发工作流：用自然语言描述开发需求，验证，不断迭代，直到满足要求</a:t>
            </a:r>
            <a:endParaRPr lang="en-US" altLang="zh-CN" dirty="0"/>
          </a:p>
          <a:p>
            <a:pPr marL="285750" indent="-285750">
              <a:buFontTx/>
              <a:buChar char="-"/>
            </a:pPr>
            <a:r>
              <a:rPr lang="zh-CN" altLang="en-US" dirty="0"/>
              <a:t>部署工作流：将开发的工作流部署为</a:t>
            </a:r>
            <a:r>
              <a:rPr lang="en-US" altLang="zh-CN" dirty="0"/>
              <a:t>API</a:t>
            </a:r>
            <a:r>
              <a:rPr lang="zh-CN" altLang="en-US" dirty="0"/>
              <a:t>应用，可以被灵珠平台调用</a:t>
            </a:r>
            <a:endParaRPr lang="en-US" altLang="zh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72DC62-4626-1479-037F-575198A1D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972" y="1861169"/>
            <a:ext cx="4180079" cy="3151847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39B45E91-9004-936D-AFC5-CD6BDE710261}"/>
              </a:ext>
            </a:extLst>
          </p:cNvPr>
          <p:cNvGrpSpPr/>
          <p:nvPr/>
        </p:nvGrpSpPr>
        <p:grpSpPr>
          <a:xfrm>
            <a:off x="4617972" y="178025"/>
            <a:ext cx="7039954" cy="1103812"/>
            <a:chOff x="4564026" y="5502585"/>
            <a:chExt cx="7039954" cy="1103812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D2E68BF-6A0C-AA61-4B72-DE9377EC6C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22111" r="25902" b="16706"/>
            <a:stretch>
              <a:fillRect/>
            </a:stretch>
          </p:blipFill>
          <p:spPr>
            <a:xfrm>
              <a:off x="4564026" y="5502585"/>
              <a:ext cx="7039954" cy="1103812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796F62A-6C62-65AC-50CF-B3DE0BAE529A}"/>
                </a:ext>
              </a:extLst>
            </p:cNvPr>
            <p:cNvSpPr/>
            <p:nvPr/>
          </p:nvSpPr>
          <p:spPr>
            <a:xfrm>
              <a:off x="7034571" y="5575412"/>
              <a:ext cx="2098864" cy="845702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C932ECAA-015E-3644-47CB-6E46E270535C}"/>
              </a:ext>
            </a:extLst>
          </p:cNvPr>
          <p:cNvSpPr txBox="1"/>
          <p:nvPr/>
        </p:nvSpPr>
        <p:spPr>
          <a:xfrm>
            <a:off x="4549812" y="1587252"/>
            <a:ext cx="1399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i="1" dirty="0"/>
              <a:t>扣子编程</a:t>
            </a:r>
            <a:endParaRPr lang="en-US" i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1E0039-E4CA-3928-7093-F532A9CFE463}"/>
              </a:ext>
            </a:extLst>
          </p:cNvPr>
          <p:cNvSpPr txBox="1"/>
          <p:nvPr/>
        </p:nvSpPr>
        <p:spPr>
          <a:xfrm>
            <a:off x="9102309" y="1491220"/>
            <a:ext cx="1399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i="1" dirty="0"/>
              <a:t>灵珠</a:t>
            </a:r>
            <a:endParaRPr lang="en-US" i="1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DC59D71-7036-266E-D71E-0DCE3A0EEA93}"/>
              </a:ext>
            </a:extLst>
          </p:cNvPr>
          <p:cNvGrpSpPr/>
          <p:nvPr/>
        </p:nvGrpSpPr>
        <p:grpSpPr>
          <a:xfrm>
            <a:off x="9187381" y="1861169"/>
            <a:ext cx="2372990" cy="4745979"/>
            <a:chOff x="9187381" y="1861169"/>
            <a:chExt cx="2372990" cy="474597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EBA205F-1875-EE6D-27D2-5892A50E155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187381" y="1861169"/>
              <a:ext cx="2372990" cy="4745979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1ABC7D5-8402-E0F1-6745-BEA5F665FE60}"/>
                </a:ext>
              </a:extLst>
            </p:cNvPr>
            <p:cNvSpPr/>
            <p:nvPr/>
          </p:nvSpPr>
          <p:spPr>
            <a:xfrm>
              <a:off x="9605246" y="5971922"/>
              <a:ext cx="1505119" cy="12138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D6388D46-4F67-25EF-67CF-6CAC48B40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ADA5A-990A-4180-8E3C-C8179AEE668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755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0D9159-099C-53DF-717C-6326705FA253}"/>
              </a:ext>
            </a:extLst>
          </p:cNvPr>
          <p:cNvSpPr txBox="1"/>
          <p:nvPr/>
        </p:nvSpPr>
        <p:spPr>
          <a:xfrm>
            <a:off x="599856" y="221282"/>
            <a:ext cx="3244132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Python:</a:t>
            </a:r>
          </a:p>
          <a:p>
            <a:r>
              <a:rPr lang="en-US" sz="1200" dirty="0">
                <a:hlinkClick r:id="rId2"/>
              </a:rPr>
              <a:t>https://www.python.org/downloads/</a:t>
            </a:r>
            <a:endParaRPr lang="en-US" sz="1200" dirty="0"/>
          </a:p>
          <a:p>
            <a:r>
              <a:rPr lang="zh-CN" altLang="en-US" dirty="0"/>
              <a:t>或者参照该教程下载：</a:t>
            </a:r>
            <a:endParaRPr lang="en-US" altLang="zh-CN" dirty="0"/>
          </a:p>
          <a:p>
            <a:r>
              <a:rPr lang="en-US" altLang="zh-CN" sz="1200" dirty="0">
                <a:hlinkClick r:id="rId3"/>
              </a:rPr>
              <a:t>https://dev.to/jajera/install-python-on-windows-via-cli-winget-3lnm</a:t>
            </a:r>
            <a:endParaRPr lang="en-US" altLang="zh-CN" sz="1200" dirty="0"/>
          </a:p>
          <a:p>
            <a:pPr marL="285750" indent="-285750">
              <a:buFontTx/>
              <a:buChar char="-"/>
            </a:pPr>
            <a:r>
              <a:rPr lang="zh-CN" altLang="en-US" dirty="0"/>
              <a:t>一种编程语言，所编成的程序可以用来处理数据</a:t>
            </a:r>
            <a:endParaRPr lang="en-US" altLang="zh-CN" dirty="0"/>
          </a:p>
          <a:p>
            <a:pPr marL="285750" indent="-285750">
              <a:buFontTx/>
              <a:buChar char="-"/>
            </a:pPr>
            <a:r>
              <a:rPr lang="zh-CN" altLang="en-US" dirty="0"/>
              <a:t>在本项目中用来将检测结果转为终检报告</a:t>
            </a:r>
            <a:endParaRPr lang="en-US" altLang="zh-CN" dirty="0"/>
          </a:p>
          <a:p>
            <a:pPr marL="285750" indent="-285750">
              <a:buFontTx/>
              <a:buChar char="-"/>
            </a:pPr>
            <a:r>
              <a:rPr lang="en-US" altLang="zh-CN" dirty="0"/>
              <a:t>*</a:t>
            </a:r>
            <a:r>
              <a:rPr lang="zh-CN" altLang="en-US" dirty="0"/>
              <a:t>在项目前期生成设备二维码时也可以用到</a:t>
            </a:r>
            <a:endParaRPr lang="en-US" altLang="zh-CN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dirty="0"/>
              <a:t>M</a:t>
            </a:r>
            <a:r>
              <a:rPr lang="en-US" altLang="zh-CN" dirty="0"/>
              <a:t>icrosoft </a:t>
            </a:r>
            <a:r>
              <a:rPr lang="en-US" dirty="0" err="1"/>
              <a:t>VSC</a:t>
            </a:r>
            <a:r>
              <a:rPr lang="en-US" altLang="zh-CN" dirty="0" err="1"/>
              <a:t>ode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en-US" altLang="zh-CN" sz="1200" dirty="0">
                <a:hlinkClick r:id="rId4"/>
              </a:rPr>
              <a:t>https://code.visualstudio.com/docs/setup/windows</a:t>
            </a:r>
            <a:endParaRPr lang="en-US" altLang="zh-CN" sz="1200" dirty="0"/>
          </a:p>
          <a:p>
            <a:r>
              <a:rPr lang="zh-CN" altLang="en-US" dirty="0"/>
              <a:t>或者通过命令行下载：</a:t>
            </a:r>
            <a:endParaRPr lang="en-US" altLang="zh-CN" dirty="0"/>
          </a:p>
          <a:p>
            <a:r>
              <a:rPr lang="nn-NO" altLang="zh-C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winget install -e --id Microsoft.VisualStudioCode</a:t>
            </a:r>
          </a:p>
          <a:p>
            <a:endParaRPr lang="en-US" altLang="zh-CN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r>
              <a:rPr lang="zh-CN" altLang="en-US" dirty="0"/>
              <a:t>用来进行</a:t>
            </a:r>
            <a:r>
              <a:rPr lang="en-US" altLang="zh-CN" dirty="0"/>
              <a:t>Python</a:t>
            </a:r>
            <a:r>
              <a:rPr lang="zh-CN" altLang="en-US" dirty="0"/>
              <a:t>开发（其实各种编程语言都可以）的平台</a:t>
            </a:r>
            <a:endParaRPr lang="en-US" altLang="zh-CN" dirty="0"/>
          </a:p>
          <a:p>
            <a:pPr marL="285750" indent="-285750">
              <a:buFontTx/>
              <a:buChar char="-"/>
            </a:pPr>
            <a:r>
              <a:rPr lang="zh-CN" altLang="en-US" dirty="0"/>
              <a:t>已经内嵌</a:t>
            </a:r>
            <a:r>
              <a:rPr lang="en-US" altLang="zh-CN" dirty="0"/>
              <a:t>AI Agent</a:t>
            </a:r>
            <a:r>
              <a:rPr lang="zh-CN" altLang="en-US" dirty="0"/>
              <a:t>辅助编程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F01B26-FF51-1EE9-3BC4-EE94C56579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8762" y="2943807"/>
            <a:ext cx="3748320" cy="13471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236E7E-F809-B54F-559F-8103141AA8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669" y="6375315"/>
            <a:ext cx="4415595" cy="1435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C47BAC9-392A-8731-592B-52F51CCFE567}"/>
              </a:ext>
            </a:extLst>
          </p:cNvPr>
          <p:cNvSpPr txBox="1"/>
          <p:nvPr/>
        </p:nvSpPr>
        <p:spPr>
          <a:xfrm>
            <a:off x="4126093" y="2385037"/>
            <a:ext cx="6273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要将</a:t>
            </a:r>
            <a:r>
              <a:rPr lang="en-US" altLang="zh-CN" dirty="0"/>
              <a:t>Excel</a:t>
            </a:r>
            <a:r>
              <a:rPr lang="zh-CN" altLang="en-US" dirty="0"/>
              <a:t>大表转为终检报告，可以在命令行中输入：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D43BA3-16AA-ACF3-DDB4-800FB29191C3}"/>
              </a:ext>
            </a:extLst>
          </p:cNvPr>
          <p:cNvSpPr txBox="1"/>
          <p:nvPr/>
        </p:nvSpPr>
        <p:spPr>
          <a:xfrm>
            <a:off x="4126093" y="4329681"/>
            <a:ext cx="4035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一般直接确定</a:t>
            </a:r>
            <a:r>
              <a:rPr lang="en-US" altLang="zh-CN" dirty="0"/>
              <a:t>Excel</a:t>
            </a:r>
            <a:r>
              <a:rPr lang="zh-CN" altLang="en-US" dirty="0"/>
              <a:t>大表的名字后输入：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F6847A-AAD5-421B-FD0F-F816E7EFA793}"/>
              </a:ext>
            </a:extLst>
          </p:cNvPr>
          <p:cNvSpPr txBox="1"/>
          <p:nvPr/>
        </p:nvSpPr>
        <p:spPr>
          <a:xfrm>
            <a:off x="4126093" y="5936132"/>
            <a:ext cx="4035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收到以下回复后表示报告生成完成：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3F96DAC-9B40-570C-343A-B8C0FCDF69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4172" y="236502"/>
            <a:ext cx="4962962" cy="181719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8BB55B8-64F2-A2AB-E1C2-2012FC1FFB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90544" y="0"/>
            <a:ext cx="2501456" cy="3458438"/>
          </a:xfrm>
          <a:prstGeom prst="rect">
            <a:avLst/>
          </a:prstGeom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DE53351C-F648-CC19-21B9-CF07C96DABA0}"/>
              </a:ext>
            </a:extLst>
          </p:cNvPr>
          <p:cNvSpPr/>
          <p:nvPr/>
        </p:nvSpPr>
        <p:spPr>
          <a:xfrm>
            <a:off x="9079264" y="1207006"/>
            <a:ext cx="538416" cy="168392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05BEC8-C053-C6C4-AF46-A54A8B3EE927}"/>
              </a:ext>
            </a:extLst>
          </p:cNvPr>
          <p:cNvSpPr txBox="1"/>
          <p:nvPr/>
        </p:nvSpPr>
        <p:spPr>
          <a:xfrm>
            <a:off x="4521770" y="4718289"/>
            <a:ext cx="3244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python3 </a:t>
            </a:r>
            <a:r>
              <a:rPr lang="en-US" altLang="zh-CN" sz="1200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main.py</a:t>
            </a:r>
            <a:r>
              <a:rPr lang="en-US" altLang="zh-CN" sz="1200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inspection_report_xxxxx.xlsx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50269B-DC06-CC7A-8F1D-000AA1A0498B}"/>
              </a:ext>
            </a:extLst>
          </p:cNvPr>
          <p:cNvSpPr txBox="1"/>
          <p:nvPr/>
        </p:nvSpPr>
        <p:spPr>
          <a:xfrm>
            <a:off x="4126093" y="4908836"/>
            <a:ext cx="4035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或 如果已有确定的终检报告命名：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24797C-34F3-A916-F0FE-1D2C30E97AB7}"/>
              </a:ext>
            </a:extLst>
          </p:cNvPr>
          <p:cNvSpPr txBox="1"/>
          <p:nvPr/>
        </p:nvSpPr>
        <p:spPr>
          <a:xfrm>
            <a:off x="4521770" y="5299627"/>
            <a:ext cx="54880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python3 </a:t>
            </a:r>
            <a:r>
              <a:rPr lang="en-US" altLang="zh-CN" sz="1200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main.py </a:t>
            </a:r>
            <a:r>
              <a:rPr lang="en-US" altLang="zh-CN" sz="12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–o FCR_70xxxx_D01.xlsx</a:t>
            </a:r>
            <a:r>
              <a:rPr lang="zh-CN" altLang="en-US" sz="12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200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inspection_report_xxxxx.xlsx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E071BF-FA82-C46A-D466-ED865AA6A710}"/>
              </a:ext>
            </a:extLst>
          </p:cNvPr>
          <p:cNvSpPr txBox="1"/>
          <p:nvPr/>
        </p:nvSpPr>
        <p:spPr>
          <a:xfrm>
            <a:off x="4126093" y="5496949"/>
            <a:ext cx="6329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或 如果还有其他的报告模板</a:t>
            </a:r>
            <a:r>
              <a:rPr lang="en-US" altLang="zh-CN" dirty="0"/>
              <a:t>(</a:t>
            </a:r>
            <a:r>
              <a:rPr lang="zh-CN" altLang="en-US" dirty="0"/>
              <a:t>默认</a:t>
            </a:r>
            <a:r>
              <a:rPr lang="en-US" altLang="zh-CN" dirty="0"/>
              <a:t>fcr_template.xlsx)</a:t>
            </a:r>
            <a:r>
              <a:rPr lang="zh-CN" altLang="en-US" dirty="0"/>
              <a:t>：</a:t>
            </a:r>
            <a:endParaRPr lang="en-US" altLang="zh-C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82F1D76-3480-65A4-3658-3984C557C9F7}"/>
              </a:ext>
            </a:extLst>
          </p:cNvPr>
          <p:cNvSpPr txBox="1"/>
          <p:nvPr/>
        </p:nvSpPr>
        <p:spPr>
          <a:xfrm>
            <a:off x="4521769" y="5740540"/>
            <a:ext cx="7244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python3 </a:t>
            </a:r>
            <a:r>
              <a:rPr lang="en-US" altLang="zh-CN" sz="1200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main.py </a:t>
            </a:r>
            <a:r>
              <a:rPr lang="en-US" altLang="zh-CN" sz="12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–o FCR_70xxxx_D01.xlsx</a:t>
            </a:r>
            <a:r>
              <a:rPr lang="zh-CN" altLang="en-US" sz="12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200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--template fcr_xxx_template.xlsx </a:t>
            </a:r>
            <a:r>
              <a:rPr lang="en-US" altLang="zh-CN" sz="1200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inspection_report_xxxxx.xlsx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5C55559-7BAF-E33E-DE1B-30ADFC5BE620}"/>
              </a:ext>
            </a:extLst>
          </p:cNvPr>
          <p:cNvSpPr txBox="1"/>
          <p:nvPr/>
        </p:nvSpPr>
        <p:spPr>
          <a:xfrm>
            <a:off x="4126094" y="1894190"/>
            <a:ext cx="347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Excel</a:t>
            </a:r>
            <a:r>
              <a:rPr lang="zh-CN" altLang="en-US" i="1" dirty="0"/>
              <a:t>大表（结构化的终检结果）</a:t>
            </a:r>
            <a:endParaRPr lang="en-US" i="1" dirty="0"/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A7A5F34B-EC25-FD0F-1FC6-FA67160B8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ADA5A-990A-4180-8E3C-C8179AEE668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366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822D53-D0C9-77E8-91D7-7D1E07049DAA}"/>
              </a:ext>
            </a:extLst>
          </p:cNvPr>
          <p:cNvSpPr txBox="1"/>
          <p:nvPr/>
        </p:nvSpPr>
        <p:spPr>
          <a:xfrm>
            <a:off x="707667" y="715617"/>
            <a:ext cx="32202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ADB+S</a:t>
            </a:r>
            <a:r>
              <a:rPr lang="en-US" altLang="zh-CN" dirty="0" err="1"/>
              <a:t>crcpy</a:t>
            </a:r>
            <a:endParaRPr lang="en-US" altLang="zh-CN" dirty="0"/>
          </a:p>
          <a:p>
            <a:pPr marL="285750" indent="-285750">
              <a:buFontTx/>
              <a:buChar char="-"/>
            </a:pPr>
            <a:r>
              <a:rPr lang="zh-CN" altLang="en-US" dirty="0"/>
              <a:t>可以配合数据线在电脑上看到眼镜的投屏</a:t>
            </a:r>
            <a:endParaRPr lang="en-US" altLang="zh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94608B-AAEC-2FAA-F9F6-FF1585369FB3}"/>
              </a:ext>
            </a:extLst>
          </p:cNvPr>
          <p:cNvSpPr txBox="1"/>
          <p:nvPr/>
        </p:nvSpPr>
        <p:spPr>
          <a:xfrm>
            <a:off x="5367131" y="644056"/>
            <a:ext cx="4619708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文档：</a:t>
            </a:r>
            <a:endParaRPr lang="en-US" altLang="zh-CN" dirty="0"/>
          </a:p>
          <a:p>
            <a:r>
              <a:rPr lang="en-US" sz="1200" dirty="0">
                <a:hlinkClick r:id="rId2"/>
              </a:rPr>
              <a:t>https://x-docs.rokid.com/docs/terminal-sdk/resources/%E6%9C%89%E7%BA%BF%E6%8A%95%E5%B1%8F.html</a:t>
            </a:r>
            <a:endParaRPr lang="en-US" sz="1200" dirty="0"/>
          </a:p>
          <a:p>
            <a:endParaRPr lang="en-US" dirty="0"/>
          </a:p>
          <a:p>
            <a:r>
              <a:rPr lang="en-US" altLang="zh-CN" dirty="0"/>
              <a:t>1. </a:t>
            </a:r>
            <a:r>
              <a:rPr lang="zh-CN" altLang="en-US" dirty="0"/>
              <a:t>下载</a:t>
            </a:r>
            <a:r>
              <a:rPr lang="en-US" altLang="zh-CN" dirty="0" err="1"/>
              <a:t>scrcpy</a:t>
            </a:r>
            <a:r>
              <a:rPr lang="zh-CN" altLang="en-US" dirty="0"/>
              <a:t>和</a:t>
            </a:r>
            <a:r>
              <a:rPr lang="en-US" altLang="zh-CN" dirty="0"/>
              <a:t>ADB</a:t>
            </a:r>
          </a:p>
          <a:p>
            <a:r>
              <a:rPr lang="en-US" altLang="zh-CN" dirty="0"/>
              <a:t>windows</a:t>
            </a:r>
            <a:r>
              <a:rPr lang="zh-CN" altLang="en-US" dirty="0"/>
              <a:t>在命令行输入：</a:t>
            </a:r>
            <a:endParaRPr lang="en-US" altLang="zh-CN" dirty="0"/>
          </a:p>
          <a:p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winget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install --exact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Genymobile.scrcpy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400" dirty="0">
              <a:solidFill>
                <a:srgbClr val="1F23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latin typeface="+mn-ea"/>
              </a:rPr>
              <a:t>2. </a:t>
            </a:r>
            <a:r>
              <a:rPr lang="zh-CN" altLang="en-US" dirty="0">
                <a:latin typeface="+mn-ea"/>
              </a:rPr>
              <a:t>眼镜连接电脑</a:t>
            </a:r>
            <a:endParaRPr lang="en-US" dirty="0">
              <a:latin typeface="+mn-ea"/>
            </a:endParaRPr>
          </a:p>
          <a:p>
            <a:r>
              <a:rPr lang="zh-CN" altLang="en-US" dirty="0"/>
              <a:t>命令行输入</a:t>
            </a:r>
            <a:r>
              <a:rPr lang="en-US" altLang="zh-CN" dirty="0"/>
              <a:t>:</a:t>
            </a:r>
          </a:p>
          <a:p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adb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devices</a:t>
            </a:r>
          </a:p>
          <a:p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dirty="0"/>
              <a:t>得到类似如下回复：</a:t>
            </a:r>
            <a:endParaRPr lang="en-US" altLang="zh-CN" dirty="0"/>
          </a:p>
          <a:p>
            <a:endParaRPr lang="en-US" dirty="0"/>
          </a:p>
          <a:p>
            <a:endParaRPr lang="en-US" dirty="0"/>
          </a:p>
          <a:p>
            <a:r>
              <a:rPr lang="zh-CN" altLang="en-US" dirty="0">
                <a:latin typeface="+mn-ea"/>
              </a:rPr>
              <a:t>这串数字即为</a:t>
            </a:r>
            <a:r>
              <a:rPr lang="zh-CN" altLang="en-US" dirty="0">
                <a:solidFill>
                  <a:schemeClr val="accent5"/>
                </a:solidFill>
                <a:latin typeface="+mn-ea"/>
              </a:rPr>
              <a:t>设备号码</a:t>
            </a:r>
            <a:endParaRPr lang="en-US" dirty="0">
              <a:solidFill>
                <a:schemeClr val="accent5"/>
              </a:solidFill>
              <a:latin typeface="+mn-ea"/>
            </a:endParaRPr>
          </a:p>
          <a:p>
            <a:endParaRPr lang="en-US" dirty="0">
              <a:latin typeface="+mn-ea"/>
            </a:endParaRPr>
          </a:p>
          <a:p>
            <a:r>
              <a:rPr lang="en-US" dirty="0">
                <a:latin typeface="+mn-ea"/>
              </a:rPr>
              <a:t>3.</a:t>
            </a:r>
            <a:r>
              <a:rPr lang="zh-CN" altLang="en-US" dirty="0">
                <a:latin typeface="+mn-ea"/>
              </a:rPr>
              <a:t> 开始投屏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命令行输入：</a:t>
            </a:r>
            <a:endParaRPr lang="en-US" altLang="zh-CN" dirty="0">
              <a:latin typeface="+mn-ea"/>
            </a:endParaRPr>
          </a:p>
          <a:p>
            <a:r>
              <a:rPr lang="en-US" altLang="zh-C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scrcpy</a:t>
            </a:r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–s </a:t>
            </a:r>
            <a:r>
              <a:rPr lang="en-US" altLang="zh-CN" sz="1400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1901092543001062</a:t>
            </a:r>
            <a:endParaRPr lang="en-US" sz="1400" dirty="0">
              <a:solidFill>
                <a:schemeClr val="accent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DEC262-9900-B416-42A3-2F5EC700E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5177" y="4111579"/>
            <a:ext cx="2896004" cy="447737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F30E439-1461-154F-B947-8AB79F2A8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ADA5A-990A-4180-8E3C-C8179AEE668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181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2380</Words>
  <Application>Microsoft Office PowerPoint</Application>
  <PresentationFormat>Widescreen</PresentationFormat>
  <Paragraphs>223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等线</vt:lpstr>
      <vt:lpstr>Aptos</vt:lpstr>
      <vt:lpstr>Aptos Display</vt:lpstr>
      <vt:lpstr>Arial</vt:lpstr>
      <vt:lpstr>Calibri</vt:lpstr>
      <vt:lpstr>Office Theme</vt:lpstr>
      <vt:lpstr>AI眼镜开发汇报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Hu, Yimin</dc:creator>
  <cp:lastModifiedBy>Hu, Yimin</cp:lastModifiedBy>
  <cp:revision>36</cp:revision>
  <dcterms:created xsi:type="dcterms:W3CDTF">2026-09-07T08:19:08Z</dcterms:created>
  <dcterms:modified xsi:type="dcterms:W3CDTF">2026-09-11T04:11:15Z</dcterms:modified>
</cp:coreProperties>
</file>