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F1EF9-B8FA-34D7-3F69-416865EDF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63D8F-F9F4-11BC-63CA-20EEE8EF9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26E9-7F10-20E3-92A9-0BC2576FC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86318-8C7C-4325-8CF8-A3455402136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12295-EE0D-8480-19CA-6DB40395B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0C301-3FA6-29A4-392F-DA3A8D51B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1BE7-1561-4394-B20C-1EB71F1E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34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FFD6-CA16-C16B-48AA-DD4F3778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C09F0-C202-CDC0-EDEA-5D11CDFD1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DC63-F25C-5E9E-3567-7D72D4E36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86318-8C7C-4325-8CF8-A3455402136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AB668-79FE-67C3-F00D-63FA699D4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8AC57-0D33-A14D-7D61-950F8E88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1BE7-1561-4394-B20C-1EB71F1E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57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8DC3-75D5-CCA2-2FF9-448705F1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4F733-FA51-F6C4-EE3B-E3E846AED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AC171-DA28-3288-D123-23E80EEE9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86318-8C7C-4325-8CF8-A3455402136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38E36-FCA2-2172-FCC0-6BB51DD9B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E94B7-2003-8B1B-00A4-A3DD84CD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1BE7-1561-4394-B20C-1EB71F1E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0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8103-2405-7554-EA30-64C9076A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BD895-5D31-988B-BDD8-BE2E023B2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274AC-76BD-E479-4C5F-71BFF06EC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3ECC5-B4CE-79A0-7876-F337F079B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86318-8C7C-4325-8CF8-A3455402136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4C668-424A-B33F-ECC9-F5F4629AA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D0388-6BC7-2603-49E6-A81C86E36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1BE7-1561-4394-B20C-1EB71F1E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7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3C7C-ECB2-6E7C-EC3A-176CBA190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0A12-8C6E-C2DE-2792-8DB34E681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A3889-296D-0390-42B6-DF4F422B6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338EE7-B650-DDF8-770A-C1EEC3F5A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50815-34A6-E9CF-D8C7-569FE8AA4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756DBB-B4B3-C96A-1DBE-9917C9F1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86318-8C7C-4325-8CF8-A3455402136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BE4FDB-2C07-18A3-0E03-8A874646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7FE95-AC11-4D88-99EB-F214D10D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1BE7-1561-4394-B20C-1EB71F1E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8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CE6E-ED59-9832-6D4C-8558A6D9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1126F8-589D-CF36-9F18-312E58FC3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86318-8C7C-4325-8CF8-A3455402136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4ED3CD-F63A-A18A-149D-43A043F8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7AE8F-CFC0-05C1-9590-133830D8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1BE7-1561-4394-B20C-1EB71F1E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38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16889-79A7-DE60-5DE0-BB7920E27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86318-8C7C-4325-8CF8-A3455402136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114FC-D46F-2EBB-9AF3-73579230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E75D9-4FA5-7540-14CC-01D8E6B7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1BE7-1561-4394-B20C-1EB71F1E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27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86D5E-C013-5AFD-DE50-DE6B88195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FC0C4-75CE-54BC-E4D8-7E135156D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17509-5084-4DBB-23D5-18A133DD6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55315-6A85-7141-0ACA-6554B5403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86318-8C7C-4325-8CF8-A3455402136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13CAB-44E8-89C8-7F14-91B26E41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4A286-7A19-1C18-CBA1-5B318E33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1BE7-1561-4394-B20C-1EB71F1E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55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D938-B376-4A3D-2FC5-034AA2297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6CE9C9-7102-C989-190C-AC8FC874F0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66DF8-4D3F-3A12-65B5-37DA8CCA0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D0B11-3607-08C6-4BCC-0F08139A7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86318-8C7C-4325-8CF8-A3455402136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82D9D-BCE3-090D-D017-C4302D4E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D520E-6065-8A6D-2EC4-C8000E03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1BE7-1561-4394-B20C-1EB71F1E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11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5D35-C4CA-F0D8-9095-96E717EC3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C0472-1AEF-4B4E-1262-5D36E09CB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ADC9B-0B41-FC54-9A32-2F223DAD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86318-8C7C-4325-8CF8-A3455402136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D1407-8594-CA97-59F4-95255EB6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7F119-416B-0347-360B-9F9DEF2E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1BE7-1561-4394-B20C-1EB71F1E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1AF84F-1610-7708-BD1E-2E538FA16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D1DA4-2068-ADE3-7B3F-9FCCF4CEA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6E6B-11FF-739C-91C8-A01BCD227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86318-8C7C-4325-8CF8-A3455402136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E2CE7-C244-A563-B0C8-C632F4A6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69CB0-5709-1EED-53B2-890B8FA8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21BE7-1561-4394-B20C-1EB71F1E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3CA021-BDE3-EB49-2CDC-CE7BC8E4E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CB856-DC36-AD5D-E1E9-59796E085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4204D-B846-876F-A601-D15898A79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86318-8C7C-4325-8CF8-A3455402136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B1F0A-EBA0-6DD7-F3AE-F6F40EC07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D4408-2EA8-4F70-AA84-15CB6F761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421BE7-1561-4394-B20C-1EB71F1E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6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7B04A-D29B-FEB0-9FD7-78F69D1F3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84264-6EA9-D923-0357-7ADAEFAD32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12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0A82A7-3876-F4CB-953C-575EF83D877F}"/>
              </a:ext>
            </a:extLst>
          </p:cNvPr>
          <p:cNvGrpSpPr/>
          <p:nvPr/>
        </p:nvGrpSpPr>
        <p:grpSpPr>
          <a:xfrm>
            <a:off x="7632921" y="573947"/>
            <a:ext cx="3599952" cy="2211098"/>
            <a:chOff x="7569310" y="4499803"/>
            <a:chExt cx="3599952" cy="221109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88BE58A-AC35-EE1F-C04C-A68AA3795194}"/>
                </a:ext>
              </a:extLst>
            </p:cNvPr>
            <p:cNvSpPr/>
            <p:nvPr/>
          </p:nvSpPr>
          <p:spPr>
            <a:xfrm>
              <a:off x="7569310" y="4499803"/>
              <a:ext cx="3474720" cy="221109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F0A74DD-27BB-A408-87C6-9053A491D11F}"/>
                </a:ext>
              </a:extLst>
            </p:cNvPr>
            <p:cNvSpPr txBox="1"/>
            <p:nvPr/>
          </p:nvSpPr>
          <p:spPr>
            <a:xfrm>
              <a:off x="7752521" y="4603806"/>
              <a:ext cx="12165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Inspection a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AC00A54-0121-3B8C-F04C-8871CE254683}"/>
                </a:ext>
              </a:extLst>
            </p:cNvPr>
            <p:cNvSpPr txBox="1"/>
            <p:nvPr/>
          </p:nvSpPr>
          <p:spPr>
            <a:xfrm>
              <a:off x="7752521" y="4773665"/>
              <a:ext cx="341674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/>
                <a:t>V</a:t>
              </a:r>
              <a:r>
                <a:rPr lang="en-US" sz="1000" b="1" dirty="0">
                  <a:solidFill>
                    <a:schemeClr val="tx1"/>
                  </a:solidFill>
                </a:rPr>
                <a:t>erify the information required to fill out in assembly documents</a:t>
              </a:r>
              <a:endParaRPr lang="en-US" sz="2400" b="1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BCF292F-1B13-B19E-7ABC-B9F1AAF53502}"/>
                </a:ext>
              </a:extLst>
            </p:cNvPr>
            <p:cNvSpPr txBox="1"/>
            <p:nvPr/>
          </p:nvSpPr>
          <p:spPr>
            <a:xfrm>
              <a:off x="7752521" y="5134235"/>
              <a:ext cx="317257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dirty="0"/>
                <a:t>Should include “cleaning and final check record list” and “assembly and experiment record list”. Project No., Bay No., Module name should be verified.</a:t>
              </a:r>
              <a:endParaRPr lang="en-US" sz="2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837929-B9E1-0D24-5CEA-24E5FBE7B359}"/>
                </a:ext>
              </a:extLst>
            </p:cNvPr>
            <p:cNvSpPr txBox="1"/>
            <p:nvPr/>
          </p:nvSpPr>
          <p:spPr>
            <a:xfrm>
              <a:off x="7752521" y="5642066"/>
              <a:ext cx="31725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Please confirm whether the device is qualified for this inspection item?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C061424-EE0F-1813-7DAB-C2697A69773D}"/>
                </a:ext>
              </a:extLst>
            </p:cNvPr>
            <p:cNvSpPr/>
            <p:nvPr/>
          </p:nvSpPr>
          <p:spPr>
            <a:xfrm>
              <a:off x="8793811" y="6084570"/>
              <a:ext cx="1025718" cy="23058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Not qualified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61CE4C4-86E4-44D1-79D4-72DB442558E1}"/>
                </a:ext>
              </a:extLst>
            </p:cNvPr>
            <p:cNvSpPr/>
            <p:nvPr/>
          </p:nvSpPr>
          <p:spPr>
            <a:xfrm>
              <a:off x="7684770" y="6084570"/>
              <a:ext cx="1025718" cy="23058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Qualified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53ECCB8-E614-0513-6153-CB2E21651977}"/>
                </a:ext>
              </a:extLst>
            </p:cNvPr>
            <p:cNvSpPr/>
            <p:nvPr/>
          </p:nvSpPr>
          <p:spPr>
            <a:xfrm>
              <a:off x="9902852" y="6080815"/>
              <a:ext cx="1025718" cy="23058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Skip this item.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0367863-095E-2A47-9ED1-3E741451CF66}"/>
                </a:ext>
              </a:extLst>
            </p:cNvPr>
            <p:cNvSpPr txBox="1"/>
            <p:nvPr/>
          </p:nvSpPr>
          <p:spPr>
            <a:xfrm>
              <a:off x="9090079" y="6480069"/>
              <a:ext cx="49745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dirty="0"/>
                <a:t>1/15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9829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A26E2-F5FF-2BBD-C79F-9C130624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Other Projects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2E5AD-1377-FB88-B823-076968E13A42}"/>
              </a:ext>
            </a:extLst>
          </p:cNvPr>
          <p:cNvSpPr txBox="1"/>
          <p:nvPr/>
        </p:nvSpPr>
        <p:spPr>
          <a:xfrm>
            <a:off x="1486895" y="1280160"/>
            <a:ext cx="7132319" cy="48741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dirty="0"/>
              <a:t>Target: Automated inspection of Gas Insulated Switchgear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Objective: Appearance features of a Gas Insulated Switchgear (GIS)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Conception:</a:t>
            </a:r>
          </a:p>
          <a:p>
            <a:pPr marL="285750" indent="-285750" algn="l">
              <a:buFontTx/>
              <a:buChar char="-"/>
            </a:pPr>
            <a:r>
              <a:rPr lang="en-US" dirty="0"/>
              <a:t>Several robot arms equipped with high-resolution cameras </a:t>
            </a:r>
          </a:p>
          <a:p>
            <a:pPr marL="285750" indent="-285750" algn="l">
              <a:buFontTx/>
              <a:buChar char="-"/>
            </a:pPr>
            <a:r>
              <a:rPr lang="en-US" dirty="0"/>
              <a:t>AI trained models with high accuracy at inspection</a:t>
            </a:r>
          </a:p>
          <a:p>
            <a:pPr marL="285750" indent="-285750" algn="l">
              <a:buFontTx/>
              <a:buChar char="-"/>
            </a:pPr>
            <a:r>
              <a:rPr lang="en-US" dirty="0"/>
              <a:t>Three level of defects detection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First level: surface finish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Second level: labels and painting color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Third level: structural conformance to the drawing</a:t>
            </a:r>
          </a:p>
          <a:p>
            <a:pPr marL="285750" indent="-285750" algn="l">
              <a:buFontTx/>
              <a:buChar char="-"/>
            </a:pPr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DF219F-EF2E-BD46-5F6D-D55931F25E5F}"/>
              </a:ext>
            </a:extLst>
          </p:cNvPr>
          <p:cNvGraphicFramePr>
            <a:graphicFrameLocks noGrp="1"/>
          </p:cNvGraphicFramePr>
          <p:nvPr/>
        </p:nvGraphicFramePr>
        <p:xfrm>
          <a:off x="1486895" y="2241735"/>
          <a:ext cx="6718823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8090">
                  <a:extLst>
                    <a:ext uri="{9D8B030D-6E8A-4147-A177-3AD203B41FA5}">
                      <a16:colId xmlns:a16="http://schemas.microsoft.com/office/drawing/2014/main" val="3696000342"/>
                    </a:ext>
                  </a:extLst>
                </a:gridCol>
                <a:gridCol w="2066470">
                  <a:extLst>
                    <a:ext uri="{9D8B030D-6E8A-4147-A177-3AD203B41FA5}">
                      <a16:colId xmlns:a16="http://schemas.microsoft.com/office/drawing/2014/main" val="3095061570"/>
                    </a:ext>
                  </a:extLst>
                </a:gridCol>
                <a:gridCol w="1567180">
                  <a:extLst>
                    <a:ext uri="{9D8B030D-6E8A-4147-A177-3AD203B41FA5}">
                      <a16:colId xmlns:a16="http://schemas.microsoft.com/office/drawing/2014/main" val="100395554"/>
                    </a:ext>
                  </a:extLst>
                </a:gridCol>
                <a:gridCol w="1687083">
                  <a:extLst>
                    <a:ext uri="{9D8B030D-6E8A-4147-A177-3AD203B41FA5}">
                      <a16:colId xmlns:a16="http://schemas.microsoft.com/office/drawing/2014/main" val="462344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Nameplate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Painting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Modules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395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Bushing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Gas Compartment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Rupture Disk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Density Meter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642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Assembly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Steel Seal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572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675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4 Other Projects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Hu, Yimin</dc:creator>
  <cp:lastModifiedBy>Hu, Yimin</cp:lastModifiedBy>
  <cp:revision>2</cp:revision>
  <dcterms:created xsi:type="dcterms:W3CDTF">2026-09-14T05:39:55Z</dcterms:created>
  <dcterms:modified xsi:type="dcterms:W3CDTF">2026-09-22T06:37:21Z</dcterms:modified>
</cp:coreProperties>
</file>